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14173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MODAVERSE · DATA ANALYST DELIVERABLE</a:t>
            </a:r>
          </a:p>
        </p:txBody>
      </p:sp>
      <p:sp>
        <p:nvSpPr>
          <p:cNvPr id="4" name="TextBox 3"/>
          <p:cNvSpPr txBox="1"/>
          <p:nvPr/>
        </p:nvSpPr>
        <p:spPr>
          <a:xfrm>
            <a:off x="685800" y="1828800"/>
            <a:ext cx="10820095" cy="2103120"/>
          </a:xfrm>
          <a:prstGeom prst="rect">
            <a:avLst/>
          </a:prstGeom>
          <a:noFill/>
        </p:spPr>
        <p:txBody>
          <a:bodyPr wrap="square" anchor="t" lIns="0" rIns="0" tIns="0" bIns="0">
            <a:spAutoFit/>
          </a:bodyPr>
          <a:lstStyle/>
          <a:p>
            <a:pPr algn="l">
              <a:lnSpc>
                <a:spcPct val="110000"/>
              </a:lnSpc>
            </a:pPr>
            <a:r>
              <a:rPr sz="4200" b="1" i="0">
                <a:solidFill>
                  <a:srgbClr val="171A1F"/>
                </a:solidFill>
                <a:latin typeface="Georgia"/>
              </a:rPr>
              <a:t>Phân tích hiệu suất kinh doanh
sản phẩm thời trang</a:t>
            </a:r>
          </a:p>
        </p:txBody>
      </p:sp>
      <p:sp>
        <p:nvSpPr>
          <p:cNvPr id="5" name="TextBox 4"/>
          <p:cNvSpPr txBox="1"/>
          <p:nvPr/>
        </p:nvSpPr>
        <p:spPr>
          <a:xfrm>
            <a:off x="685800" y="3977639"/>
            <a:ext cx="8778240" cy="1463040"/>
          </a:xfrm>
          <a:prstGeom prst="rect">
            <a:avLst/>
          </a:prstGeom>
          <a:noFill/>
        </p:spPr>
        <p:txBody>
          <a:bodyPr wrap="square" anchor="t" lIns="0" rIns="0" tIns="0" bIns="0">
            <a:spAutoFit/>
          </a:bodyPr>
          <a:lstStyle/>
          <a:p>
            <a:pPr algn="l">
              <a:lnSpc>
                <a:spcPct val="135000"/>
              </a:lnSpc>
            </a:pPr>
            <a:r>
              <a:rPr sz="1900" b="0" i="0">
                <a:solidFill>
                  <a:srgbClr val="55565D"/>
                </a:solidFill>
                <a:latin typeface="Calibri"/>
              </a:rPr>
              <a:t>Điều gì thực sự thúc đẩy doanh số trên sàn ModaVerse — và tại sao câu trả lời khác nhau giữa giày, túi xách và phụ kiện. Phân tích trên 41,576 sản phẩm, 6 danh mục, 3 thuật toán dự đoán.</a:t>
            </a:r>
          </a:p>
        </p:txBody>
      </p:sp>
      <p:cxnSp>
        <p:nvCxnSpPr>
          <p:cNvPr id="6" name="Connector 5"/>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Tổng quan</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BỐI CẢNH</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200" b="1" i="0">
                <a:solidFill>
                  <a:srgbClr val="171A1F"/>
                </a:solidFill>
                <a:latin typeface="Georgia"/>
              </a:rPr>
              <a:t>Vì sao phân tích này cần thiết</a:t>
            </a:r>
          </a:p>
        </p:txBody>
      </p:sp>
      <p:sp>
        <p:nvSpPr>
          <p:cNvPr id="5" name="TextBox 4"/>
          <p:cNvSpPr txBox="1"/>
          <p:nvPr/>
        </p:nvSpPr>
        <p:spPr>
          <a:xfrm>
            <a:off x="685800" y="1783080"/>
            <a:ext cx="9875520" cy="1188720"/>
          </a:xfrm>
          <a:prstGeom prst="rect">
            <a:avLst/>
          </a:prstGeom>
          <a:noFill/>
        </p:spPr>
        <p:txBody>
          <a:bodyPr wrap="square" anchor="t" lIns="0" rIns="0" tIns="0" bIns="0">
            <a:spAutoFit/>
          </a:bodyPr>
          <a:lstStyle/>
          <a:p>
            <a:pPr algn="l">
              <a:lnSpc>
                <a:spcPct val="135000"/>
              </a:lnSpc>
            </a:pPr>
            <a:r>
              <a:rPr sz="1800" b="0" i="0">
                <a:solidFill>
                  <a:srgbClr val="55565D"/>
                </a:solidFill>
                <a:latin typeface="Calibri"/>
              </a:rPr>
              <a:t>ModaVerse phục vụ khách hàng trung lưu bận rộn tại TP.HCM và Hà Nội — nhóm ưu tiên sự tiện lợi hơn là khám phá. Ban Giám đốc nhận thấy chiến lược kinh doanh hiện tại không còn hiệu quả đồng đều, nhưng chưa rõ nguyên nhân có khác nhau giữa các ngành hàng hay không.</a:t>
            </a:r>
          </a:p>
        </p:txBody>
      </p:sp>
      <p:sp>
        <p:nvSpPr>
          <p:cNvPr id="6" name="Rounded Rectangle 5"/>
          <p:cNvSpPr/>
          <p:nvPr/>
        </p:nvSpPr>
        <p:spPr>
          <a:xfrm>
            <a:off x="685800" y="3246120"/>
            <a:ext cx="10820095" cy="1234440"/>
          </a:xfrm>
          <a:prstGeom prst="roundRect">
            <a:avLst>
              <a:gd name="adj" fmla="val 6000"/>
            </a:avLst>
          </a:prstGeom>
          <a:solidFill>
            <a:srgbClr val="E7E4D8"/>
          </a:solidFill>
          <a:ln>
            <a:noFill/>
          </a:ln>
          <a:effectLst/>
        </p:spPr>
        <p:txBody>
          <a:bodyPr rtlCol="0" anchor="ctr"/>
          <a:lstStyle/>
          <a:p>
            <a:pPr algn="ctr"/>
          </a:p>
        </p:txBody>
      </p:sp>
      <p:sp>
        <p:nvSpPr>
          <p:cNvPr id="7" name="TextBox 6"/>
          <p:cNvSpPr txBox="1"/>
          <p:nvPr/>
        </p:nvSpPr>
        <p:spPr>
          <a:xfrm>
            <a:off x="886968" y="3374136"/>
            <a:ext cx="10417759" cy="1014984"/>
          </a:xfrm>
          <a:prstGeom prst="rect">
            <a:avLst/>
          </a:prstGeom>
          <a:noFill/>
        </p:spPr>
        <p:txBody>
          <a:bodyPr wrap="square" anchor="t" lIns="0" rIns="0" tIns="0" bIns="0">
            <a:spAutoFit/>
          </a:bodyPr>
          <a:lstStyle/>
          <a:p>
            <a:pPr algn="l">
              <a:spcAft>
                <a:spcPts val="400"/>
              </a:spcAft>
            </a:pPr>
            <a:r>
              <a:rPr sz="1300" b="1" i="0">
                <a:solidFill>
                  <a:srgbClr val="7C1F42"/>
                </a:solidFill>
                <a:latin typeface="Calibri"/>
              </a:rPr>
              <a:t>CÂU HỎI ĐẶT RA</a:t>
            </a:r>
          </a:p>
          <a:p>
            <a:pPr>
              <a:lnSpc>
                <a:spcPct val="118000"/>
              </a:lnSpc>
            </a:pPr>
            <a:r>
              <a:rPr sz="1600" b="0" i="0">
                <a:solidFill>
                  <a:srgbClr val="55565D"/>
                </a:solidFill>
                <a:latin typeface="Calibri"/>
              </a:rPr>
              <a:t>Yếu tố nào thực sự thúc đẩy doanh số — và liệu câu trả lời có giống nhau giữa giày nam, túi nữ, phụ kiện thời trang, hay mỗi ngành hàng cần một chiến lược riêng?</a:t>
            </a:r>
          </a:p>
        </p:txBody>
      </p:sp>
      <p:sp>
        <p:nvSpPr>
          <p:cNvPr id="8" name="Rounded Rectangle 7"/>
          <p:cNvSpPr/>
          <p:nvPr/>
        </p:nvSpPr>
        <p:spPr>
          <a:xfrm>
            <a:off x="685800" y="4663440"/>
            <a:ext cx="10820095" cy="1234440"/>
          </a:xfrm>
          <a:prstGeom prst="roundRect">
            <a:avLst>
              <a:gd name="adj" fmla="val 6000"/>
            </a:avLst>
          </a:prstGeom>
          <a:solidFill>
            <a:srgbClr val="E7E4D8"/>
          </a:solidFill>
          <a:ln>
            <a:noFill/>
          </a:ln>
          <a:effectLst/>
        </p:spPr>
        <p:txBody>
          <a:bodyPr rtlCol="0" anchor="ctr"/>
          <a:lstStyle/>
          <a:p>
            <a:pPr algn="ctr"/>
          </a:p>
        </p:txBody>
      </p:sp>
      <p:sp>
        <p:nvSpPr>
          <p:cNvPr id="9" name="TextBox 8"/>
          <p:cNvSpPr txBox="1"/>
          <p:nvPr/>
        </p:nvSpPr>
        <p:spPr>
          <a:xfrm>
            <a:off x="886968" y="4791456"/>
            <a:ext cx="10417759" cy="1014984"/>
          </a:xfrm>
          <a:prstGeom prst="rect">
            <a:avLst/>
          </a:prstGeom>
          <a:noFill/>
        </p:spPr>
        <p:txBody>
          <a:bodyPr wrap="square" anchor="t" lIns="0" rIns="0" tIns="0" bIns="0">
            <a:spAutoFit/>
          </a:bodyPr>
          <a:lstStyle/>
          <a:p>
            <a:pPr algn="l">
              <a:spcAft>
                <a:spcPts val="400"/>
              </a:spcAft>
            </a:pPr>
            <a:r>
              <a:rPr sz="1300" b="1" i="0">
                <a:solidFill>
                  <a:srgbClr val="7C1F42"/>
                </a:solidFill>
                <a:latin typeface="Calibri"/>
              </a:rPr>
              <a:t>PHẠM VI PHÂN TÍCH</a:t>
            </a:r>
          </a:p>
          <a:p>
            <a:pPr>
              <a:lnSpc>
                <a:spcPct val="118000"/>
              </a:lnSpc>
            </a:pPr>
            <a:r>
              <a:rPr sz="1600" b="0" i="0">
                <a:solidFill>
                  <a:srgbClr val="55565D"/>
                </a:solidFill>
                <a:latin typeface="Calibri"/>
              </a:rPr>
              <a:t>6 danh mục con · 41,576 sản phẩm sau làm sạch · phân tích mô tả, chẩn đoán và 3 mô hình dự đoán doanh số (Random Forest, XGBoost, SVR).</a:t>
            </a:r>
          </a:p>
        </p:txBody>
      </p:sp>
      <p:cxnSp>
        <p:nvCxnSpPr>
          <p:cNvPr id="10" name="Connector 9"/>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Bối cảnh &amp; Mục tiêu</a:t>
            </a:r>
          </a:p>
        </p:txBody>
      </p:sp>
      <p:sp>
        <p:nvSpPr>
          <p:cNvPr id="12" name="TextBox 11"/>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DỮ LIỆU &amp; PHƯƠNG PHÁP</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Từ 6 file rời rạc đến 1 pipeline phân tích</a:t>
            </a:r>
          </a:p>
        </p:txBody>
      </p:sp>
      <p:sp>
        <p:nvSpPr>
          <p:cNvPr id="5" name="TextBox 4"/>
          <p:cNvSpPr txBox="1"/>
          <p:nvPr/>
        </p:nvSpPr>
        <p:spPr>
          <a:xfrm>
            <a:off x="685800" y="1874519"/>
            <a:ext cx="2522143"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41,576</a:t>
            </a:r>
          </a:p>
          <a:p>
            <a:r>
              <a:rPr sz="1150" b="0" i="0">
                <a:solidFill>
                  <a:srgbClr val="86847C"/>
                </a:solidFill>
                <a:latin typeface="Calibri"/>
              </a:rPr>
              <a:t>sản phẩm sau làm sạch</a:t>
            </a:r>
          </a:p>
        </p:txBody>
      </p:sp>
      <p:sp>
        <p:nvSpPr>
          <p:cNvPr id="6" name="TextBox 5"/>
          <p:cNvSpPr txBox="1"/>
          <p:nvPr/>
        </p:nvSpPr>
        <p:spPr>
          <a:xfrm>
            <a:off x="3390823" y="1874519"/>
            <a:ext cx="2522143"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6</a:t>
            </a:r>
          </a:p>
          <a:p>
            <a:r>
              <a:rPr sz="1150" b="0" i="0">
                <a:solidFill>
                  <a:srgbClr val="86847C"/>
                </a:solidFill>
                <a:latin typeface="Calibri"/>
              </a:rPr>
              <a:t>danh mục con</a:t>
            </a:r>
          </a:p>
        </p:txBody>
      </p:sp>
      <p:sp>
        <p:nvSpPr>
          <p:cNvPr id="7" name="TextBox 6"/>
          <p:cNvSpPr txBox="1"/>
          <p:nvPr/>
        </p:nvSpPr>
        <p:spPr>
          <a:xfrm>
            <a:off x="6095847" y="1874519"/>
            <a:ext cx="2522143"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27</a:t>
            </a:r>
          </a:p>
          <a:p>
            <a:r>
              <a:rPr sz="1150" b="0" i="0">
                <a:solidFill>
                  <a:srgbClr val="86847C"/>
                </a:solidFill>
                <a:latin typeface="Calibri"/>
              </a:rPr>
              <a:t>dòng trùng lặp đã loại</a:t>
            </a:r>
          </a:p>
        </p:txBody>
      </p:sp>
      <p:sp>
        <p:nvSpPr>
          <p:cNvPr id="8" name="TextBox 7"/>
          <p:cNvSpPr txBox="1"/>
          <p:nvPr/>
        </p:nvSpPr>
        <p:spPr>
          <a:xfrm>
            <a:off x="8800871" y="1874519"/>
            <a:ext cx="2522143"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3</a:t>
            </a:r>
          </a:p>
          <a:p>
            <a:r>
              <a:rPr sz="1150" b="0" i="0">
                <a:solidFill>
                  <a:srgbClr val="86847C"/>
                </a:solidFill>
                <a:latin typeface="Calibri"/>
              </a:rPr>
              <a:t>thuật toán dự đoán so sánh</a:t>
            </a:r>
          </a:p>
        </p:txBody>
      </p:sp>
      <p:sp>
        <p:nvSpPr>
          <p:cNvPr id="9" name="Rounded Rectangle 8"/>
          <p:cNvSpPr/>
          <p:nvPr/>
        </p:nvSpPr>
        <p:spPr>
          <a:xfrm>
            <a:off x="685800" y="2971800"/>
            <a:ext cx="10820095" cy="932688"/>
          </a:xfrm>
          <a:prstGeom prst="roundRect">
            <a:avLst>
              <a:gd name="adj" fmla="val 6000"/>
            </a:avLst>
          </a:prstGeom>
          <a:solidFill>
            <a:srgbClr val="E7E4D8"/>
          </a:solidFill>
          <a:ln>
            <a:noFill/>
          </a:ln>
          <a:effectLst/>
        </p:spPr>
        <p:txBody>
          <a:bodyPr rtlCol="0" anchor="ctr"/>
          <a:lstStyle/>
          <a:p>
            <a:pPr algn="ctr"/>
          </a:p>
        </p:txBody>
      </p:sp>
      <p:sp>
        <p:nvSpPr>
          <p:cNvPr id="10" name="TextBox 9"/>
          <p:cNvSpPr txBox="1"/>
          <p:nvPr/>
        </p:nvSpPr>
        <p:spPr>
          <a:xfrm>
            <a:off x="886968" y="3099816"/>
            <a:ext cx="10417759" cy="713232"/>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PHẦN 1 — CHUẨN BỊ</a:t>
            </a:r>
          </a:p>
          <a:p>
            <a:pPr>
              <a:lnSpc>
                <a:spcPct val="118000"/>
              </a:lnSpc>
            </a:pPr>
            <a:r>
              <a:rPr sz="1550" b="0" i="0">
                <a:solidFill>
                  <a:srgbClr val="55565D"/>
                </a:solidFill>
                <a:latin typeface="Calibri"/>
              </a:rPr>
              <a:t>Hợp nhất 6 CSV, làm sạch (missing values, dtype, giá lỗi), tạo discount_rate &amp; is_branded.</a:t>
            </a:r>
          </a:p>
        </p:txBody>
      </p:sp>
      <p:sp>
        <p:nvSpPr>
          <p:cNvPr id="11" name="Rounded Rectangle 10"/>
          <p:cNvSpPr/>
          <p:nvPr/>
        </p:nvSpPr>
        <p:spPr>
          <a:xfrm>
            <a:off x="685800" y="4069080"/>
            <a:ext cx="10820095" cy="932688"/>
          </a:xfrm>
          <a:prstGeom prst="roundRect">
            <a:avLst>
              <a:gd name="adj" fmla="val 6000"/>
            </a:avLst>
          </a:prstGeom>
          <a:solidFill>
            <a:srgbClr val="E7E4D8"/>
          </a:solidFill>
          <a:ln>
            <a:noFill/>
          </a:ln>
          <a:effectLst/>
        </p:spPr>
        <p:txBody>
          <a:bodyPr rtlCol="0" anchor="ctr"/>
          <a:lstStyle/>
          <a:p>
            <a:pPr algn="ctr"/>
          </a:p>
        </p:txBody>
      </p:sp>
      <p:sp>
        <p:nvSpPr>
          <p:cNvPr id="12" name="TextBox 11"/>
          <p:cNvSpPr txBox="1"/>
          <p:nvPr/>
        </p:nvSpPr>
        <p:spPr>
          <a:xfrm>
            <a:off x="886968" y="4197096"/>
            <a:ext cx="10417759" cy="713232"/>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PHẦN 2 — MÔ TẢ &amp; CHẨN ĐOÁN</a:t>
            </a:r>
          </a:p>
          <a:p>
            <a:pPr>
              <a:lnSpc>
                <a:spcPct val="118000"/>
              </a:lnSpc>
            </a:pPr>
            <a:r>
              <a:rPr sz="1550" b="0" i="0">
                <a:solidFill>
                  <a:srgbClr val="55565D"/>
                </a:solidFill>
                <a:latin typeface="Calibri"/>
              </a:rPr>
              <a:t>So sánh doanh số, giá, rating, video, thương hiệu giữa 6 danh mục.</a:t>
            </a:r>
          </a:p>
        </p:txBody>
      </p:sp>
      <p:sp>
        <p:nvSpPr>
          <p:cNvPr id="13" name="Rounded Rectangle 12"/>
          <p:cNvSpPr/>
          <p:nvPr/>
        </p:nvSpPr>
        <p:spPr>
          <a:xfrm>
            <a:off x="685800" y="5166360"/>
            <a:ext cx="10820095" cy="932688"/>
          </a:xfrm>
          <a:prstGeom prst="roundRect">
            <a:avLst>
              <a:gd name="adj" fmla="val 6000"/>
            </a:avLst>
          </a:prstGeom>
          <a:solidFill>
            <a:srgbClr val="E7E4D8"/>
          </a:solidFill>
          <a:ln>
            <a:noFill/>
          </a:ln>
          <a:effectLst/>
        </p:spPr>
        <p:txBody>
          <a:bodyPr rtlCol="0" anchor="ctr"/>
          <a:lstStyle/>
          <a:p>
            <a:pPr algn="ctr"/>
          </a:p>
        </p:txBody>
      </p:sp>
      <p:sp>
        <p:nvSpPr>
          <p:cNvPr id="14" name="TextBox 13"/>
          <p:cNvSpPr txBox="1"/>
          <p:nvPr/>
        </p:nvSpPr>
        <p:spPr>
          <a:xfrm>
            <a:off x="886968" y="5294376"/>
            <a:ext cx="10417759" cy="713232"/>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PHẦN 3 — DỰ ĐOÁN</a:t>
            </a:r>
          </a:p>
          <a:p>
            <a:pPr>
              <a:lnSpc>
                <a:spcPct val="118000"/>
              </a:lnSpc>
            </a:pPr>
            <a:r>
              <a:rPr sz="1550" b="0" i="0">
                <a:solidFill>
                  <a:srgbClr val="55565D"/>
                </a:solidFill>
                <a:latin typeface="Calibri"/>
              </a:rPr>
              <a:t>Random Forest, XGBoost, SVR-RBF dự đoán quantity_sold, phân tích feature importance.</a:t>
            </a:r>
          </a:p>
        </p:txBody>
      </p:sp>
      <p:cxnSp>
        <p:nvCxnSpPr>
          <p:cNvPr id="15" name="Connector 14"/>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Bối cảnh &amp; Mục tiêu</a:t>
            </a:r>
          </a:p>
        </p:txBody>
      </p:sp>
      <p:sp>
        <p:nvSpPr>
          <p:cNvPr id="17" name="TextBox 16"/>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2 · TỔNG QUAN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2900" b="1" i="0">
                <a:solidFill>
                  <a:srgbClr val="171A1F"/>
                </a:solidFill>
                <a:latin typeface="Georgia"/>
              </a:rPr>
              <a:t>Con gà đẻ trứng vàng: fashion_accessories</a:t>
            </a:r>
          </a:p>
        </p:txBody>
      </p:sp>
      <p:pic>
        <p:nvPicPr>
          <p:cNvPr id="5" name="Picture 4" descr="chart-04.png"/>
          <p:cNvPicPr>
            <a:picLocks noChangeAspect="1"/>
          </p:cNvPicPr>
          <p:nvPr/>
        </p:nvPicPr>
        <p:blipFill>
          <a:blip r:embed="rId2"/>
          <a:stretch>
            <a:fillRect/>
          </a:stretch>
        </p:blipFill>
        <p:spPr>
          <a:xfrm>
            <a:off x="685800" y="1783080"/>
            <a:ext cx="6720840" cy="4199074"/>
          </a:xfrm>
          <a:prstGeom prst="rect">
            <a:avLst/>
          </a:prstGeom>
        </p:spPr>
      </p:pic>
      <p:sp>
        <p:nvSpPr>
          <p:cNvPr id="6" name="TextBox 5"/>
          <p:cNvSpPr txBox="1"/>
          <p:nvPr/>
        </p:nvSpPr>
        <p:spPr>
          <a:xfrm>
            <a:off x="7680960" y="1920240"/>
            <a:ext cx="3824935" cy="4023360"/>
          </a:xfrm>
          <a:prstGeom prst="rect">
            <a:avLst/>
          </a:prstGeom>
          <a:noFill/>
        </p:spPr>
        <p:txBody>
          <a:bodyPr wrap="square" anchor="t" lIns="0" rIns="0" tIns="0" bIns="0">
            <a:spAutoFit/>
          </a:bodyPr>
          <a:lstStyle/>
          <a:p>
            <a:pPr algn="l">
              <a:lnSpc>
                <a:spcPct val="130000"/>
              </a:lnSpc>
              <a:spcAft>
                <a:spcPts val="1400"/>
              </a:spcAft>
            </a:pPr>
            <a:r>
              <a:rPr sz="1650" b="1" i="0">
                <a:solidFill>
                  <a:srgbClr val="7C1F42"/>
                </a:solidFill>
                <a:latin typeface="Calibri"/>
              </a:rPr>
              <a:t>fashion_accessories</a:t>
            </a:r>
            <a:r>
              <a:rPr sz="1650" b="0" i="0">
                <a:solidFill>
                  <a:srgbClr val="55565D"/>
                </a:solidFill>
                <a:latin typeface="Calibri"/>
              </a:rPr>
              <a:t> bán 253,418 đơn vị — gấp </a:t>
            </a:r>
            <a:r>
              <a:rPr sz="1650" b="1" i="0">
                <a:solidFill>
                  <a:srgbClr val="171A1F"/>
                </a:solidFill>
                <a:latin typeface="Calibri"/>
              </a:rPr>
              <a:t>1.9 lần</a:t>
            </a:r>
            <a:r>
              <a:rPr sz="1650" b="0" i="0">
                <a:solidFill>
                  <a:srgbClr val="55565D"/>
                </a:solidFill>
                <a:latin typeface="Calibri"/>
              </a:rPr>
              <a:t> danh mục #2 (women_shoes) và gấp </a:t>
            </a:r>
            <a:r>
              <a:rPr sz="1650" b="1" i="0">
                <a:solidFill>
                  <a:srgbClr val="171A1F"/>
                </a:solidFill>
                <a:latin typeface="Calibri"/>
              </a:rPr>
              <a:t>6.3 lần</a:t>
            </a:r>
            <a:r>
              <a:rPr sz="1650" b="0" i="0">
                <a:solidFill>
                  <a:srgbClr val="55565D"/>
                </a:solidFill>
                <a:latin typeface="Calibri"/>
              </a:rPr>
              <a:t> danh mục thấp nhất (women_bags).</a:t>
            </a:r>
          </a:p>
          <a:p>
            <a:pPr>
              <a:lnSpc>
                <a:spcPct val="130000"/>
              </a:lnSpc>
              <a:spcAft>
                <a:spcPts val="1400"/>
              </a:spcAft>
            </a:pPr>
            <a:r>
              <a:rPr sz="1650" b="0" i="0">
                <a:solidFill>
                  <a:srgbClr val="55565D"/>
                </a:solidFill>
                <a:latin typeface="Calibri"/>
              </a:rPr>
              <a:t>Chênh lệch khối lượng giữa các danh mục </a:t>
            </a:r>
            <a:r>
              <a:rPr sz="1650" b="1" i="0">
                <a:solidFill>
                  <a:srgbClr val="7C1F42"/>
                </a:solidFill>
                <a:latin typeface="Calibri"/>
              </a:rPr>
              <a:t>rất lớn</a:t>
            </a:r>
            <a:r>
              <a:rPr sz="1650" b="0" i="0">
                <a:solidFill>
                  <a:srgbClr val="55565D"/>
                </a:solidFill>
                <a:latin typeface="Calibri"/>
              </a:rPr>
              <a:t>, không đồng đều.</a:t>
            </a:r>
          </a:p>
          <a:p>
            <a:pPr>
              <a:lnSpc>
                <a:spcPct val="130000"/>
              </a:lnSpc>
            </a:pPr>
            <a:r>
              <a:rPr sz="1650" b="0" i="1">
                <a:solidFill>
                  <a:srgbClr val="86847C"/>
                </a:solidFill>
                <a:latin typeface="Calibri"/>
              </a:rPr>
              <a:t>Nhưng khối lượng cao không đồng nghĩa giá trị cao — xem slide tiếp theo.</a:t>
            </a:r>
          </a:p>
        </p:txBody>
      </p:sp>
      <p:cxnSp>
        <p:nvCxnSpPr>
          <p:cNvPr id="7" name="Connector 6"/>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2 · Mô tả &amp; Chẩn đoán</a:t>
            </a:r>
          </a:p>
        </p:txBody>
      </p:sp>
      <p:sp>
        <p:nvSpPr>
          <p:cNvPr id="9" name="TextBox 8"/>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2 · TỔNG QUAN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Giá trị thật vs. phụ thuộc giảm giá</a:t>
            </a:r>
          </a:p>
        </p:txBody>
      </p:sp>
      <p:pic>
        <p:nvPicPr>
          <p:cNvPr id="5" name="Picture 4" descr="chart-05.png"/>
          <p:cNvPicPr>
            <a:picLocks noChangeAspect="1"/>
          </p:cNvPicPr>
          <p:nvPr/>
        </p:nvPicPr>
        <p:blipFill>
          <a:blip r:embed="rId2"/>
          <a:stretch>
            <a:fillRect/>
          </a:stretch>
        </p:blipFill>
        <p:spPr>
          <a:xfrm>
            <a:off x="685800" y="1783080"/>
            <a:ext cx="5807918" cy="4343400"/>
          </a:xfrm>
          <a:prstGeom prst="rect">
            <a:avLst/>
          </a:prstGeom>
        </p:spPr>
      </p:pic>
      <p:sp>
        <p:nvSpPr>
          <p:cNvPr id="6" name="TextBox 5"/>
          <p:cNvSpPr txBox="1"/>
          <p:nvPr/>
        </p:nvSpPr>
        <p:spPr>
          <a:xfrm>
            <a:off x="7680960" y="1920240"/>
            <a:ext cx="3824935" cy="4023360"/>
          </a:xfrm>
          <a:prstGeom prst="rect">
            <a:avLst/>
          </a:prstGeom>
          <a:noFill/>
        </p:spPr>
        <p:txBody>
          <a:bodyPr wrap="square" anchor="t" lIns="0" rIns="0" tIns="0" bIns="0">
            <a:spAutoFit/>
          </a:bodyPr>
          <a:lstStyle/>
          <a:p>
            <a:pPr>
              <a:lnSpc>
                <a:spcPct val="130000"/>
              </a:lnSpc>
              <a:spcAft>
                <a:spcPts val="1400"/>
              </a:spcAft>
            </a:pPr>
            <a:r>
              <a:rPr sz="1550" b="1" i="0">
                <a:solidFill>
                  <a:srgbClr val="7C1F42"/>
                </a:solidFill>
                <a:latin typeface="Calibri"/>
              </a:rPr>
              <a:t>men_bags</a:t>
            </a:r>
            <a:r>
              <a:rPr sz="1550" b="0" i="0">
                <a:solidFill>
                  <a:srgbClr val="55565D"/>
                </a:solidFill>
                <a:latin typeface="Calibri"/>
              </a:rPr>
              <a:t>: giá TB cao nhất (582k) và discount TB cao nhất (8.6%) — phải giảm giá mạnh nhất để bán được hàng giá trị cao.</a:t>
            </a:r>
          </a:p>
          <a:p>
            <a:pPr>
              <a:lnSpc>
                <a:spcPct val="130000"/>
              </a:lnSpc>
              <a:spcAft>
                <a:spcPts val="1400"/>
              </a:spcAft>
            </a:pPr>
            <a:r>
              <a:rPr sz="1550" b="1" i="0">
                <a:solidFill>
                  <a:srgbClr val="7C1F42"/>
                </a:solidFill>
                <a:latin typeface="Calibri"/>
              </a:rPr>
              <a:t>fashion_accessories</a:t>
            </a:r>
            <a:r>
              <a:rPr sz="1550" b="0" i="0">
                <a:solidFill>
                  <a:srgbClr val="55565D"/>
                </a:solidFill>
                <a:latin typeface="Calibri"/>
              </a:rPr>
              <a:t>: giá thấp nhất (82k), discount cũng thấp nhất (4.6%) — bán nhờ giá vốn rẻ, không cần khuyến mãi.</a:t>
            </a:r>
          </a:p>
          <a:p>
            <a:pPr>
              <a:lnSpc>
                <a:spcPct val="130000"/>
              </a:lnSpc>
            </a:pPr>
            <a:r>
              <a:rPr sz="1550" b="0" i="1">
                <a:solidFill>
                  <a:srgbClr val="86847C"/>
                </a:solidFill>
                <a:latin typeface="Calibri"/>
              </a:rPr>
              <a:t>Không danh mục nào ở nhóm “giá cao, ít giảm giá” — định vị cao cấp thuần túy chưa tồn tại trên sàn.</a:t>
            </a:r>
          </a:p>
        </p:txBody>
      </p:sp>
      <p:cxnSp>
        <p:nvCxnSpPr>
          <p:cNvPr id="7" name="Connector 6"/>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2 · Mô tả &amp; Chẩn đoán</a:t>
            </a:r>
          </a:p>
        </p:txBody>
      </p:sp>
      <p:sp>
        <p:nvSpPr>
          <p:cNvPr id="9" name="TextBox 8"/>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2 · CHẨN ĐOÁN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Rating không phải đòn bẩy doanh số</a:t>
            </a:r>
          </a:p>
        </p:txBody>
      </p:sp>
      <p:pic>
        <p:nvPicPr>
          <p:cNvPr id="5" name="Picture 4" descr="chart-06.png"/>
          <p:cNvPicPr>
            <a:picLocks noChangeAspect="1"/>
          </p:cNvPicPr>
          <p:nvPr/>
        </p:nvPicPr>
        <p:blipFill>
          <a:blip r:embed="rId2"/>
          <a:stretch>
            <a:fillRect/>
          </a:stretch>
        </p:blipFill>
        <p:spPr>
          <a:xfrm>
            <a:off x="685800" y="1783080"/>
            <a:ext cx="5821362" cy="4343400"/>
          </a:xfrm>
          <a:prstGeom prst="rect">
            <a:avLst/>
          </a:prstGeom>
        </p:spPr>
      </p:pic>
      <p:sp>
        <p:nvSpPr>
          <p:cNvPr id="6" name="TextBox 5"/>
          <p:cNvSpPr txBox="1"/>
          <p:nvPr/>
        </p:nvSpPr>
        <p:spPr>
          <a:xfrm>
            <a:off x="7680960" y="1783080"/>
            <a:ext cx="3824935"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0.022</a:t>
            </a:r>
          </a:p>
          <a:p>
            <a:r>
              <a:rPr sz="1150" b="0" i="0">
                <a:solidFill>
                  <a:srgbClr val="86847C"/>
                </a:solidFill>
                <a:latin typeface="Calibri"/>
              </a:rPr>
              <a:t>corr — men_shoes</a:t>
            </a:r>
          </a:p>
        </p:txBody>
      </p:sp>
      <p:sp>
        <p:nvSpPr>
          <p:cNvPr id="7" name="TextBox 6"/>
          <p:cNvSpPr txBox="1"/>
          <p:nvPr/>
        </p:nvSpPr>
        <p:spPr>
          <a:xfrm>
            <a:off x="7680960" y="2697480"/>
            <a:ext cx="3824935" cy="594360"/>
          </a:xfrm>
          <a:prstGeom prst="rect">
            <a:avLst/>
          </a:prstGeom>
          <a:noFill/>
        </p:spPr>
        <p:txBody>
          <a:bodyPr wrap="square" anchor="t" lIns="0" rIns="0" tIns="0" bIns="0">
            <a:spAutoFit/>
          </a:bodyPr>
          <a:lstStyle/>
          <a:p>
            <a:pPr>
              <a:spcAft>
                <a:spcPts val="200"/>
              </a:spcAft>
            </a:pPr>
            <a:r>
              <a:rPr sz="3200" b="1" i="0">
                <a:solidFill>
                  <a:srgbClr val="7C1F42"/>
                </a:solidFill>
                <a:latin typeface="Georgia"/>
              </a:rPr>
              <a:t>0.056</a:t>
            </a:r>
          </a:p>
          <a:p>
            <a:r>
              <a:rPr sz="1150" b="0" i="0">
                <a:solidFill>
                  <a:srgbClr val="86847C"/>
                </a:solidFill>
                <a:latin typeface="Calibri"/>
              </a:rPr>
              <a:t>corr — fashion_accessories</a:t>
            </a:r>
          </a:p>
        </p:txBody>
      </p:sp>
      <p:sp>
        <p:nvSpPr>
          <p:cNvPr id="8" name="TextBox 7"/>
          <p:cNvSpPr txBox="1"/>
          <p:nvPr/>
        </p:nvSpPr>
        <p:spPr>
          <a:xfrm>
            <a:off x="7680960" y="3749040"/>
            <a:ext cx="3824935" cy="2194560"/>
          </a:xfrm>
          <a:prstGeom prst="rect">
            <a:avLst/>
          </a:prstGeom>
          <a:noFill/>
        </p:spPr>
        <p:txBody>
          <a:bodyPr wrap="square" anchor="t" lIns="0" rIns="0" tIns="0" bIns="0">
            <a:spAutoFit/>
          </a:bodyPr>
          <a:lstStyle/>
          <a:p>
            <a:pPr>
              <a:lnSpc>
                <a:spcPct val="132000"/>
              </a:lnSpc>
            </a:pPr>
            <a:r>
              <a:rPr sz="1550" b="0" i="0">
                <a:solidFill>
                  <a:srgbClr val="55565D"/>
                </a:solidFill>
                <a:latin typeface="Calibri"/>
              </a:rPr>
              <a:t>Cả hai gần như bằng 0 và </a:t>
            </a:r>
            <a:r>
              <a:rPr sz="1550" b="1" i="0">
                <a:solidFill>
                  <a:srgbClr val="7C1F42"/>
                </a:solidFill>
                <a:latin typeface="Calibri"/>
              </a:rPr>
              <a:t>tương đương nhau</a:t>
            </a:r>
            <a:r>
              <a:rPr sz="1550" b="0" i="0">
                <a:solidFill>
                  <a:srgbClr val="55565D"/>
                </a:solidFill>
                <a:latin typeface="Calibri"/>
              </a:rPr>
              <a:t> — rating không khác biệt về mức độ ảnh hưởng giữa 2 ngành hàng. Rating trung bình cũng gần như giống hệt nhau ở cả 6 danh mục (4.36–4.44/5) — không phân hóa được gì.</a:t>
            </a:r>
          </a:p>
        </p:txBody>
      </p:sp>
      <p:cxnSp>
        <p:nvCxnSpPr>
          <p:cNvPr id="9" name="Connector 8"/>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2 · Mô tả &amp; Chẩn đoán</a:t>
            </a:r>
          </a:p>
        </p:txBody>
      </p:sp>
      <p:sp>
        <p:nvSpPr>
          <p:cNvPr id="11" name="TextBox 10"/>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2 · CHẨN ĐOÁN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Video: hiệu ứng trái chiều theo danh mục</a:t>
            </a:r>
          </a:p>
        </p:txBody>
      </p:sp>
      <p:pic>
        <p:nvPicPr>
          <p:cNvPr id="5" name="Picture 4" descr="chart-07.png"/>
          <p:cNvPicPr>
            <a:picLocks noChangeAspect="1"/>
          </p:cNvPicPr>
          <p:nvPr/>
        </p:nvPicPr>
        <p:blipFill>
          <a:blip r:embed="rId2"/>
          <a:stretch>
            <a:fillRect/>
          </a:stretch>
        </p:blipFill>
        <p:spPr>
          <a:xfrm>
            <a:off x="685800" y="1783080"/>
            <a:ext cx="6720840" cy="4036566"/>
          </a:xfrm>
          <a:prstGeom prst="rect">
            <a:avLst/>
          </a:prstGeom>
        </p:spPr>
      </p:pic>
      <p:sp>
        <p:nvSpPr>
          <p:cNvPr id="6" name="TextBox 5"/>
          <p:cNvSpPr txBox="1"/>
          <p:nvPr/>
        </p:nvSpPr>
        <p:spPr>
          <a:xfrm>
            <a:off x="7680960" y="1874520"/>
            <a:ext cx="3824935" cy="1828800"/>
          </a:xfrm>
          <a:prstGeom prst="rect">
            <a:avLst/>
          </a:prstGeom>
          <a:noFill/>
        </p:spPr>
        <p:txBody>
          <a:bodyPr wrap="square" anchor="t" lIns="0" rIns="0" tIns="0" bIns="0">
            <a:spAutoFit/>
          </a:bodyPr>
          <a:lstStyle/>
          <a:p>
            <a:pPr>
              <a:lnSpc>
                <a:spcPct val="122000"/>
              </a:lnSpc>
              <a:spcAft>
                <a:spcPts val="1600"/>
              </a:spcAft>
            </a:pPr>
            <a:r>
              <a:rPr sz="1550" b="1" i="0">
                <a:solidFill>
                  <a:srgbClr val="7C1F42"/>
                </a:solidFill>
                <a:latin typeface="Calibri"/>
              </a:rPr>
              <a:t>— </a:t>
            </a:r>
            <a:r>
              <a:rPr sz="1550" b="1" i="0">
                <a:solidFill>
                  <a:srgbClr val="2F6B3A"/>
                </a:solidFill>
                <a:latin typeface="Calibri"/>
              </a:rPr>
              <a:t>women_bags +241.6%</a:t>
            </a:r>
            <a:r>
              <a:rPr sz="1550" b="0" i="0">
                <a:solidFill>
                  <a:srgbClr val="55565D"/>
                </a:solidFill>
                <a:latin typeface="Calibri"/>
              </a:rPr>
              <a:t> — uplift cao nhất toàn sàn.</a:t>
            </a:r>
          </a:p>
          <a:p>
            <a:pPr>
              <a:lnSpc>
                <a:spcPct val="122000"/>
              </a:lnSpc>
              <a:spcAft>
                <a:spcPts val="1600"/>
              </a:spcAft>
            </a:pPr>
            <a:r>
              <a:rPr sz="1550" b="1" i="0">
                <a:solidFill>
                  <a:srgbClr val="7C1F42"/>
                </a:solidFill>
                <a:latin typeface="Calibri"/>
              </a:rPr>
              <a:t>— </a:t>
            </a:r>
            <a:r>
              <a:rPr sz="1550" b="1" i="0">
                <a:solidFill>
                  <a:srgbClr val="A4362C"/>
                </a:solidFill>
                <a:latin typeface="Calibri"/>
              </a:rPr>
              <a:t>men_bags −16.2%</a:t>
            </a:r>
            <a:r>
              <a:rPr sz="1550" b="0" i="0">
                <a:solidFill>
                  <a:srgbClr val="55565D"/>
                </a:solidFill>
                <a:latin typeface="Calibri"/>
              </a:rPr>
              <a:t> — ngoại lệ duy nhất, có video lại bán </a:t>
            </a:r>
            <a:r>
              <a:rPr sz="1550" b="0" i="0">
                <a:solidFill>
                  <a:srgbClr val="55565D"/>
                </a:solidFill>
                <a:latin typeface="Calibri"/>
              </a:rPr>
              <a:t>kém hơn</a:t>
            </a:r>
            <a:r>
              <a:rPr sz="1550" b="0" i="0">
                <a:solidFill>
                  <a:srgbClr val="55565D"/>
                </a:solidFill>
                <a:latin typeface="Calibri"/>
              </a:rPr>
              <a:t>, dù đây là danh mục đầu tư video nhiều nhất (16.8% listing).</a:t>
            </a:r>
          </a:p>
        </p:txBody>
      </p:sp>
      <p:sp>
        <p:nvSpPr>
          <p:cNvPr id="7" name="Rounded Rectangle 6"/>
          <p:cNvSpPr/>
          <p:nvPr/>
        </p:nvSpPr>
        <p:spPr>
          <a:xfrm>
            <a:off x="7680960" y="4114800"/>
            <a:ext cx="3824935" cy="1965960"/>
          </a:xfrm>
          <a:prstGeom prst="roundRect">
            <a:avLst>
              <a:gd name="adj" fmla="val 6000"/>
            </a:avLst>
          </a:prstGeom>
          <a:solidFill>
            <a:srgbClr val="E7E4D8"/>
          </a:solidFill>
          <a:ln>
            <a:noFill/>
          </a:ln>
          <a:effectLst/>
        </p:spPr>
        <p:txBody>
          <a:bodyPr rtlCol="0" anchor="ctr"/>
          <a:lstStyle/>
          <a:p>
            <a:pPr algn="ctr"/>
          </a:p>
        </p:txBody>
      </p:sp>
      <p:sp>
        <p:nvSpPr>
          <p:cNvPr id="8" name="TextBox 7"/>
          <p:cNvSpPr txBox="1"/>
          <p:nvPr/>
        </p:nvSpPr>
        <p:spPr>
          <a:xfrm>
            <a:off x="7882128" y="4242816"/>
            <a:ext cx="3422599" cy="1746504"/>
          </a:xfrm>
          <a:prstGeom prst="rect">
            <a:avLst/>
          </a:prstGeom>
          <a:noFill/>
        </p:spPr>
        <p:txBody>
          <a:bodyPr wrap="square" anchor="t" lIns="0" rIns="0" tIns="0" bIns="0">
            <a:spAutoFit/>
          </a:bodyPr>
          <a:lstStyle/>
          <a:p>
            <a:pPr algn="l">
              <a:spcAft>
                <a:spcPts val="400"/>
              </a:spcAft>
            </a:pPr>
            <a:r>
              <a:rPr sz="1250" b="1" i="0">
                <a:solidFill>
                  <a:srgbClr val="7C1F42"/>
                </a:solidFill>
                <a:latin typeface="Calibri"/>
              </a:rPr>
              <a:t>Ý NGHĨA</a:t>
            </a:r>
          </a:p>
          <a:p>
            <a:pPr>
              <a:lnSpc>
                <a:spcPct val="118000"/>
              </a:lnSpc>
            </a:pPr>
            <a:r>
              <a:rPr sz="1500" b="0" i="0">
                <a:solidFill>
                  <a:srgbClr val="55565D"/>
                </a:solidFill>
                <a:latin typeface="Calibri"/>
              </a:rPr>
              <a:t>Không thể áp dụng “khuyến khích làm video” đồng loạt cho mọi danh mục — cần chính sách riêng theo ngành hàng.</a:t>
            </a:r>
          </a:p>
        </p:txBody>
      </p:sp>
      <p:cxnSp>
        <p:nvCxnSpPr>
          <p:cNvPr id="9" name="Connector 8"/>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2 · Mô tả &amp; Chẩn đoán</a:t>
            </a:r>
          </a:p>
        </p:txBody>
      </p:sp>
      <p:sp>
        <p:nvSpPr>
          <p:cNvPr id="11" name="TextBox 10"/>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2 · CHẨN ĐOÁN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2800" b="1" i="0">
                <a:solidFill>
                  <a:srgbClr val="171A1F"/>
                </a:solidFill>
                <a:latin typeface="Georgia"/>
              </a:rPr>
              <a:t>Thương hiệu luôn thắng OEM — nhưng không đều</a:t>
            </a:r>
          </a:p>
        </p:txBody>
      </p:sp>
      <p:pic>
        <p:nvPicPr>
          <p:cNvPr id="5" name="Picture 4" descr="chart-08.png"/>
          <p:cNvPicPr>
            <a:picLocks noChangeAspect="1"/>
          </p:cNvPicPr>
          <p:nvPr/>
        </p:nvPicPr>
        <p:blipFill>
          <a:blip r:embed="rId2"/>
          <a:stretch>
            <a:fillRect/>
          </a:stretch>
        </p:blipFill>
        <p:spPr>
          <a:xfrm>
            <a:off x="685800" y="1783080"/>
            <a:ext cx="6720840" cy="4036566"/>
          </a:xfrm>
          <a:prstGeom prst="rect">
            <a:avLst/>
          </a:prstGeom>
        </p:spPr>
      </p:pic>
      <p:sp>
        <p:nvSpPr>
          <p:cNvPr id="6" name="TextBox 5"/>
          <p:cNvSpPr txBox="1"/>
          <p:nvPr/>
        </p:nvSpPr>
        <p:spPr>
          <a:xfrm>
            <a:off x="7680960" y="1874520"/>
            <a:ext cx="3824935" cy="1005840"/>
          </a:xfrm>
          <a:prstGeom prst="rect">
            <a:avLst/>
          </a:prstGeom>
          <a:noFill/>
        </p:spPr>
        <p:txBody>
          <a:bodyPr wrap="square" anchor="t" lIns="0" rIns="0" tIns="0" bIns="0">
            <a:spAutoFit/>
          </a:bodyPr>
          <a:lstStyle/>
          <a:p>
            <a:pPr>
              <a:lnSpc>
                <a:spcPct val="130000"/>
              </a:lnSpc>
            </a:pPr>
            <a:r>
              <a:rPr sz="1550" b="0" i="0">
                <a:solidFill>
                  <a:srgbClr val="55565D"/>
                </a:solidFill>
                <a:latin typeface="Calibri"/>
              </a:rPr>
              <a:t>Có thương hiệu bán chạy hơn OEM ở </a:t>
            </a:r>
            <a:r>
              <a:rPr sz="1550" b="1" i="0">
                <a:solidFill>
                  <a:srgbClr val="171A1F"/>
                </a:solidFill>
                <a:latin typeface="Calibri"/>
              </a:rPr>
              <a:t>6/6 danh mục</a:t>
            </a:r>
            <a:r>
              <a:rPr sz="1550" b="0" i="0">
                <a:solidFill>
                  <a:srgbClr val="55565D"/>
                </a:solidFill>
                <a:latin typeface="Calibri"/>
              </a:rPr>
              <a:t> — không đảo chiều như video.</a:t>
            </a:r>
          </a:p>
        </p:txBody>
      </p:sp>
      <p:sp>
        <p:nvSpPr>
          <p:cNvPr id="7" name="TextBox 6"/>
          <p:cNvSpPr txBox="1"/>
          <p:nvPr/>
        </p:nvSpPr>
        <p:spPr>
          <a:xfrm>
            <a:off x="7680960" y="3017520"/>
            <a:ext cx="1912467" cy="594360"/>
          </a:xfrm>
          <a:prstGeom prst="rect">
            <a:avLst/>
          </a:prstGeom>
          <a:noFill/>
        </p:spPr>
        <p:txBody>
          <a:bodyPr wrap="square" anchor="t" lIns="0" rIns="0" tIns="0" bIns="0">
            <a:spAutoFit/>
          </a:bodyPr>
          <a:lstStyle/>
          <a:p>
            <a:pPr>
              <a:spcAft>
                <a:spcPts val="200"/>
              </a:spcAft>
            </a:pPr>
            <a:r>
              <a:rPr sz="3000" b="1" i="0">
                <a:solidFill>
                  <a:srgbClr val="7C1F42"/>
                </a:solidFill>
                <a:latin typeface="Georgia"/>
              </a:rPr>
              <a:t>+668%</a:t>
            </a:r>
          </a:p>
          <a:p>
            <a:r>
              <a:rPr sz="1150" b="0" i="0">
                <a:solidFill>
                  <a:srgbClr val="86847C"/>
                </a:solidFill>
                <a:latin typeface="Calibri"/>
              </a:rPr>
              <a:t>men_bags — cao nhất</a:t>
            </a:r>
          </a:p>
        </p:txBody>
      </p:sp>
      <p:sp>
        <p:nvSpPr>
          <p:cNvPr id="8" name="TextBox 7"/>
          <p:cNvSpPr txBox="1"/>
          <p:nvPr/>
        </p:nvSpPr>
        <p:spPr>
          <a:xfrm>
            <a:off x="9593427" y="3017520"/>
            <a:ext cx="1912467" cy="594360"/>
          </a:xfrm>
          <a:prstGeom prst="rect">
            <a:avLst/>
          </a:prstGeom>
          <a:noFill/>
        </p:spPr>
        <p:txBody>
          <a:bodyPr wrap="square" anchor="t" lIns="0" rIns="0" tIns="0" bIns="0">
            <a:spAutoFit/>
          </a:bodyPr>
          <a:lstStyle/>
          <a:p>
            <a:pPr>
              <a:spcAft>
                <a:spcPts val="200"/>
              </a:spcAft>
            </a:pPr>
            <a:r>
              <a:rPr sz="3000" b="1" i="0">
                <a:solidFill>
                  <a:srgbClr val="7C1F42"/>
                </a:solidFill>
                <a:latin typeface="Georgia"/>
              </a:rPr>
              <a:t>+114%</a:t>
            </a:r>
          </a:p>
          <a:p>
            <a:r>
              <a:rPr sz="1150" b="0" i="0">
                <a:solidFill>
                  <a:srgbClr val="86847C"/>
                </a:solidFill>
                <a:latin typeface="Calibri"/>
              </a:rPr>
              <a:t>women_shoes — thấp nhất</a:t>
            </a:r>
          </a:p>
        </p:txBody>
      </p:sp>
      <p:sp>
        <p:nvSpPr>
          <p:cNvPr id="9" name="TextBox 8"/>
          <p:cNvSpPr txBox="1"/>
          <p:nvPr/>
        </p:nvSpPr>
        <p:spPr>
          <a:xfrm>
            <a:off x="7680960" y="4114800"/>
            <a:ext cx="3824935" cy="1463040"/>
          </a:xfrm>
          <a:prstGeom prst="rect">
            <a:avLst/>
          </a:prstGeom>
          <a:noFill/>
        </p:spPr>
        <p:txBody>
          <a:bodyPr wrap="square" anchor="t" lIns="0" rIns="0" tIns="0" bIns="0">
            <a:spAutoFit/>
          </a:bodyPr>
          <a:lstStyle/>
          <a:p>
            <a:pPr>
              <a:lnSpc>
                <a:spcPct val="130000"/>
              </a:lnSpc>
            </a:pPr>
            <a:r>
              <a:rPr sz="1550" b="0" i="0">
                <a:solidFill>
                  <a:srgbClr val="55565D"/>
                </a:solidFill>
                <a:latin typeface="Calibri"/>
              </a:rPr>
              <a:t>Biên độ chênh lệch gần </a:t>
            </a:r>
            <a:r>
              <a:rPr sz="1550" b="1" i="0">
                <a:solidFill>
                  <a:srgbClr val="7C1F42"/>
                </a:solidFill>
                <a:latin typeface="Calibri"/>
              </a:rPr>
              <a:t>6 lần</a:t>
            </a:r>
            <a:r>
              <a:rPr sz="1550" b="0" i="0">
                <a:solidFill>
                  <a:srgbClr val="55565D"/>
                </a:solidFill>
                <a:latin typeface="Calibri"/>
              </a:rPr>
              <a:t> giữa danh mục nhạy nhất và ít nhạy nhất với thương hiệu.</a:t>
            </a:r>
          </a:p>
        </p:txBody>
      </p:sp>
      <p:cxnSp>
        <p:nvCxnSpPr>
          <p:cNvPr id="10" name="Connector 9"/>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2 · Mô tả &amp; Chẩn đoán</a:t>
            </a:r>
          </a:p>
        </p:txBody>
      </p:sp>
      <p:sp>
        <p:nvSpPr>
          <p:cNvPr id="12" name="TextBox 11"/>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3 · DỰ ĐOÁN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3 thuật toán — cây quyết định thắng rõ rệt</a:t>
            </a:r>
          </a:p>
        </p:txBody>
      </p:sp>
      <p:pic>
        <p:nvPicPr>
          <p:cNvPr id="5" name="Picture 4" descr="chart-09.png"/>
          <p:cNvPicPr>
            <a:picLocks noChangeAspect="1"/>
          </p:cNvPicPr>
          <p:nvPr/>
        </p:nvPicPr>
        <p:blipFill>
          <a:blip r:embed="rId2"/>
          <a:stretch>
            <a:fillRect/>
          </a:stretch>
        </p:blipFill>
        <p:spPr>
          <a:xfrm>
            <a:off x="685800" y="1783080"/>
            <a:ext cx="10817352" cy="2466132"/>
          </a:xfrm>
          <a:prstGeom prst="rect">
            <a:avLst/>
          </a:prstGeom>
        </p:spPr>
      </p:pic>
      <p:sp>
        <p:nvSpPr>
          <p:cNvPr id="6" name="Rounded Rectangle 5"/>
          <p:cNvSpPr/>
          <p:nvPr/>
        </p:nvSpPr>
        <p:spPr>
          <a:xfrm>
            <a:off x="685800" y="4569252"/>
            <a:ext cx="10820095" cy="1874519"/>
          </a:xfrm>
          <a:prstGeom prst="roundRect">
            <a:avLst>
              <a:gd name="adj" fmla="val 6000"/>
            </a:avLst>
          </a:prstGeom>
          <a:solidFill>
            <a:srgbClr val="E7E4D8"/>
          </a:solidFill>
          <a:ln>
            <a:noFill/>
          </a:ln>
          <a:effectLst/>
        </p:spPr>
        <p:txBody>
          <a:bodyPr rtlCol="0" anchor="ctr"/>
          <a:lstStyle/>
          <a:p>
            <a:pPr algn="ctr"/>
          </a:p>
        </p:txBody>
      </p:sp>
      <p:sp>
        <p:nvSpPr>
          <p:cNvPr id="7" name="Rectangle 6"/>
          <p:cNvSpPr/>
          <p:nvPr/>
        </p:nvSpPr>
        <p:spPr>
          <a:xfrm>
            <a:off x="685800" y="4569252"/>
            <a:ext cx="54864" cy="1874519"/>
          </a:xfrm>
          <a:prstGeom prst="rect">
            <a:avLst/>
          </a:prstGeom>
          <a:solidFill>
            <a:srgbClr val="7C1F42"/>
          </a:solidFill>
          <a:ln>
            <a:noFill/>
          </a:ln>
          <a:effectLst/>
        </p:spPr>
        <p:txBody>
          <a:bodyPr rtlCol="0" anchor="ctr"/>
          <a:lstStyle/>
          <a:p>
            <a:pPr algn="ctr"/>
          </a:p>
        </p:txBody>
      </p:sp>
      <p:sp>
        <p:nvSpPr>
          <p:cNvPr id="8" name="TextBox 7"/>
          <p:cNvSpPr txBox="1"/>
          <p:nvPr/>
        </p:nvSpPr>
        <p:spPr>
          <a:xfrm>
            <a:off x="978408" y="4697268"/>
            <a:ext cx="10326319" cy="1655063"/>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VÌ SAO SVR KÉM HẲN (R² 0.085 SO VỚI ~0.26)</a:t>
            </a:r>
          </a:p>
          <a:p>
            <a:pPr>
              <a:lnSpc>
                <a:spcPct val="118000"/>
              </a:lnSpc>
            </a:pPr>
            <a:r>
              <a:rPr sz="1600" b="0" i="0">
                <a:solidFill>
                  <a:srgbClr val="55565D"/>
                </a:solidFill>
                <a:latin typeface="Calibri"/>
              </a:rPr>
              <a:t>quantity_sold là dữ liệu đếm lệch cực đoan — 51.8% sản phẩm bán được 0 cái, skewness = 86.7. Model cây (chia không gian thành vùng rời rạc) phù hợp hơn nhiều so với SVR (cố fit 1 hàm mượt toàn cục) với kiểu phân phối “chủ yếu bằng 0, thỉnh thoảng viral” này.</a:t>
            </a:r>
          </a:p>
        </p:txBody>
      </p:sp>
      <p:cxnSp>
        <p:nvCxnSpPr>
          <p:cNvPr id="9" name="Connector 8"/>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3 · Phân tích Dự đoán</a:t>
            </a:r>
          </a:p>
        </p:txBody>
      </p:sp>
      <p:sp>
        <p:nvSpPr>
          <p:cNvPr id="11" name="TextBox 10"/>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3 · DỰ ĐOÁN</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Yếu tố nào thực sự thúc đẩy doanh số?</a:t>
            </a:r>
          </a:p>
        </p:txBody>
      </p:sp>
      <p:pic>
        <p:nvPicPr>
          <p:cNvPr id="5" name="Picture 4" descr="chart-10.png"/>
          <p:cNvPicPr>
            <a:picLocks noChangeAspect="1"/>
          </p:cNvPicPr>
          <p:nvPr/>
        </p:nvPicPr>
        <p:blipFill>
          <a:blip r:embed="rId2"/>
          <a:stretch>
            <a:fillRect/>
          </a:stretch>
        </p:blipFill>
        <p:spPr>
          <a:xfrm>
            <a:off x="944880" y="1645920"/>
            <a:ext cx="5882640" cy="2468880"/>
          </a:xfrm>
          <a:prstGeom prst="rect">
            <a:avLst/>
          </a:prstGeom>
        </p:spPr>
      </p:pic>
      <p:sp>
        <p:nvSpPr>
          <p:cNvPr id="6" name="Rounded Rectangle 5"/>
          <p:cNvSpPr/>
          <p:nvPr/>
        </p:nvSpPr>
        <p:spPr>
          <a:xfrm>
            <a:off x="685800" y="4251960"/>
            <a:ext cx="10820095" cy="1783080"/>
          </a:xfrm>
          <a:prstGeom prst="roundRect">
            <a:avLst>
              <a:gd name="adj" fmla="val 6000"/>
            </a:avLst>
          </a:prstGeom>
          <a:solidFill>
            <a:srgbClr val="E7E4D8"/>
          </a:solidFill>
          <a:ln>
            <a:noFill/>
          </a:ln>
          <a:effectLst/>
        </p:spPr>
        <p:txBody>
          <a:bodyPr rtlCol="0" anchor="ctr"/>
          <a:lstStyle/>
          <a:p>
            <a:pPr algn="ctr"/>
          </a:p>
        </p:txBody>
      </p:sp>
      <p:sp>
        <p:nvSpPr>
          <p:cNvPr id="7" name="Rectangle 6"/>
          <p:cNvSpPr/>
          <p:nvPr/>
        </p:nvSpPr>
        <p:spPr>
          <a:xfrm>
            <a:off x="685800" y="4251960"/>
            <a:ext cx="54864" cy="1783080"/>
          </a:xfrm>
          <a:prstGeom prst="rect">
            <a:avLst/>
          </a:prstGeom>
          <a:solidFill>
            <a:srgbClr val="7C1F42"/>
          </a:solidFill>
          <a:ln>
            <a:noFill/>
          </a:ln>
          <a:effectLst/>
        </p:spPr>
        <p:txBody>
          <a:bodyPr rtlCol="0" anchor="ctr"/>
          <a:lstStyle/>
          <a:p>
            <a:pPr algn="ctr"/>
          </a:p>
        </p:txBody>
      </p:sp>
      <p:sp>
        <p:nvSpPr>
          <p:cNvPr id="8" name="TextBox 7"/>
          <p:cNvSpPr txBox="1"/>
          <p:nvPr/>
        </p:nvSpPr>
        <p:spPr>
          <a:xfrm>
            <a:off x="978408" y="4379976"/>
            <a:ext cx="10326319" cy="1563624"/>
          </a:xfrm>
          <a:prstGeom prst="rect">
            <a:avLst/>
          </a:prstGeom>
          <a:noFill/>
        </p:spPr>
        <p:txBody>
          <a:bodyPr wrap="square" anchor="t" lIns="0" rIns="0" tIns="0" bIns="0">
            <a:spAutoFit/>
          </a:bodyPr>
          <a:lstStyle/>
          <a:p>
            <a:pPr algn="l">
              <a:spcAft>
                <a:spcPts val="400"/>
              </a:spcAft>
            </a:pPr>
            <a:r>
              <a:rPr sz="1300" b="1" i="0">
                <a:solidFill>
                  <a:srgbClr val="7C1F42"/>
                </a:solidFill>
                <a:latin typeface="Calibri"/>
              </a:rPr>
              <a:t>SUB_CATEGORY CÓ PHẢI YẾU TỐ HÀNG ĐẦU?</a:t>
            </a:r>
          </a:p>
          <a:p>
            <a:pPr>
              <a:lnSpc>
                <a:spcPct val="118000"/>
              </a:lnSpc>
            </a:pPr>
            <a:r>
              <a:rPr sz="1450" b="0" i="0">
                <a:solidFill>
                  <a:srgbClr val="55565D"/>
                </a:solidFill>
                <a:latin typeface="Calibri"/>
              </a:rPr>
              <a:t>Random Forest: #5/12 · XGBoost: #2/12 — cả 2 model đồng ý sub_category có vai trò thật, nhưng luôn đứng sau review_counts (biến “hậu kiểm” — 55.1% sản phẩm có review_counts bằng chính xác quantity_sold, không phải đòn bẩy chủ động được). Yếu tố hành động được đứng kế tiếp: date_created, price, number_of_images.</a:t>
            </a:r>
          </a:p>
        </p:txBody>
      </p:sp>
      <p:cxnSp>
        <p:nvCxnSpPr>
          <p:cNvPr id="9" name="Connector 8"/>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Phần 3 · Phân tích Dự đoán</a:t>
            </a:r>
          </a:p>
        </p:txBody>
      </p:sp>
      <p:sp>
        <p:nvSpPr>
          <p:cNvPr id="11" name="TextBox 10"/>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TỔNG HỢP</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000" b="1" i="0">
                <a:solidFill>
                  <a:srgbClr val="171A1F"/>
                </a:solidFill>
                <a:latin typeface="Georgia"/>
              </a:rPr>
              <a:t>4 phát hiện chéo danh mục đáng chú ý</a:t>
            </a:r>
          </a:p>
        </p:txBody>
      </p:sp>
      <p:sp>
        <p:nvSpPr>
          <p:cNvPr id="5" name="Rounded Rectangle 4"/>
          <p:cNvSpPr/>
          <p:nvPr/>
        </p:nvSpPr>
        <p:spPr>
          <a:xfrm>
            <a:off x="685800" y="1645920"/>
            <a:ext cx="10820095" cy="914400"/>
          </a:xfrm>
          <a:prstGeom prst="roundRect">
            <a:avLst>
              <a:gd name="adj" fmla="val 6000"/>
            </a:avLst>
          </a:prstGeom>
          <a:solidFill>
            <a:srgbClr val="E7E4D8"/>
          </a:solidFill>
          <a:ln>
            <a:noFill/>
          </a:ln>
          <a:effectLst/>
        </p:spPr>
        <p:txBody>
          <a:bodyPr rtlCol="0" anchor="ctr"/>
          <a:lstStyle/>
          <a:p>
            <a:pPr algn="ctr"/>
          </a:p>
        </p:txBody>
      </p:sp>
      <p:sp>
        <p:nvSpPr>
          <p:cNvPr id="6" name="TextBox 5"/>
          <p:cNvSpPr txBox="1"/>
          <p:nvPr/>
        </p:nvSpPr>
        <p:spPr>
          <a:xfrm>
            <a:off x="886968" y="1773936"/>
            <a:ext cx="10417759" cy="694944"/>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MEN_BAGS — ĐƯỢC ĂN CẢ, NGÃ VỀ KHÔNG</a:t>
            </a:r>
          </a:p>
          <a:p>
            <a:pPr>
              <a:lnSpc>
                <a:spcPct val="118000"/>
              </a:lnSpc>
            </a:pPr>
            <a:r>
              <a:rPr sz="1350" b="0" i="0">
                <a:solidFill>
                  <a:srgbClr val="55565D"/>
                </a:solidFill>
                <a:latin typeface="Calibri"/>
              </a:rPr>
              <a:t>Giá cao nhất, discount cao nhất, brand uplift cao nhất (+668%) — nhưng video phản tác dụng (−16.2%) và tỷ lệ ế cao thứ 2 (58.7%).</a:t>
            </a:r>
          </a:p>
        </p:txBody>
      </p:sp>
      <p:sp>
        <p:nvSpPr>
          <p:cNvPr id="7" name="Rounded Rectangle 6"/>
          <p:cNvSpPr/>
          <p:nvPr/>
        </p:nvSpPr>
        <p:spPr>
          <a:xfrm>
            <a:off x="685800" y="2679191"/>
            <a:ext cx="10820095" cy="914400"/>
          </a:xfrm>
          <a:prstGeom prst="roundRect">
            <a:avLst>
              <a:gd name="adj" fmla="val 6000"/>
            </a:avLst>
          </a:prstGeom>
          <a:solidFill>
            <a:srgbClr val="E7E4D8"/>
          </a:solidFill>
          <a:ln>
            <a:noFill/>
          </a:ln>
          <a:effectLst/>
        </p:spPr>
        <p:txBody>
          <a:bodyPr rtlCol="0" anchor="ctr"/>
          <a:lstStyle/>
          <a:p>
            <a:pPr algn="ctr"/>
          </a:p>
        </p:txBody>
      </p:sp>
      <p:sp>
        <p:nvSpPr>
          <p:cNvPr id="8" name="TextBox 7"/>
          <p:cNvSpPr txBox="1"/>
          <p:nvPr/>
        </p:nvSpPr>
        <p:spPr>
          <a:xfrm>
            <a:off x="886968" y="2807207"/>
            <a:ext cx="10417759" cy="694944"/>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WOMEN_BAGS — NHỎ NHƯNG GIÀU TIỀM NĂNG</a:t>
            </a:r>
          </a:p>
          <a:p>
            <a:pPr>
              <a:lnSpc>
                <a:spcPct val="118000"/>
              </a:lnSpc>
            </a:pPr>
            <a:r>
              <a:rPr sz="1350" b="0" i="0">
                <a:solidFill>
                  <a:srgbClr val="55565D"/>
                </a:solidFill>
                <a:latin typeface="Calibri"/>
              </a:rPr>
              <a:t>Khối lượng thấp nhất, ế nhiều nhất (61.4%) — nhưng phần thưởng đầu tư (video +242%, brand +478%) lớn nhất toàn sàn.</a:t>
            </a:r>
          </a:p>
        </p:txBody>
      </p:sp>
      <p:sp>
        <p:nvSpPr>
          <p:cNvPr id="9" name="Rounded Rectangle 8"/>
          <p:cNvSpPr/>
          <p:nvPr/>
        </p:nvSpPr>
        <p:spPr>
          <a:xfrm>
            <a:off x="685800" y="3712463"/>
            <a:ext cx="10820095" cy="914400"/>
          </a:xfrm>
          <a:prstGeom prst="roundRect">
            <a:avLst>
              <a:gd name="adj" fmla="val 6000"/>
            </a:avLst>
          </a:prstGeom>
          <a:solidFill>
            <a:srgbClr val="E7E4D8"/>
          </a:solidFill>
          <a:ln>
            <a:noFill/>
          </a:ln>
          <a:effectLst/>
        </p:spPr>
        <p:txBody>
          <a:bodyPr rtlCol="0" anchor="ctr"/>
          <a:lstStyle/>
          <a:p>
            <a:pPr algn="ctr"/>
          </a:p>
        </p:txBody>
      </p:sp>
      <p:sp>
        <p:nvSpPr>
          <p:cNvPr id="10" name="TextBox 9"/>
          <p:cNvSpPr txBox="1"/>
          <p:nvPr/>
        </p:nvSpPr>
        <p:spPr>
          <a:xfrm>
            <a:off x="886968" y="3840479"/>
            <a:ext cx="10417759" cy="694944"/>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2 DANH MỤC TÚI XÁCH LUÔN Ế NHẤT</a:t>
            </a:r>
          </a:p>
          <a:p>
            <a:pPr>
              <a:lnSpc>
                <a:spcPct val="118000"/>
              </a:lnSpc>
            </a:pPr>
            <a:r>
              <a:rPr sz="1350" b="0" i="0">
                <a:solidFill>
                  <a:srgbClr val="55565D"/>
                </a:solidFill>
                <a:latin typeface="Calibri"/>
              </a:rPr>
              <a:t>men_bags (58.7%) và women_bags (61.4%) ế cao hơn hẳn 4 danh mục còn lại (46.6–52.1%) — cần chiến lược riêng.</a:t>
            </a:r>
          </a:p>
        </p:txBody>
      </p:sp>
      <p:sp>
        <p:nvSpPr>
          <p:cNvPr id="11" name="Rounded Rectangle 10"/>
          <p:cNvSpPr/>
          <p:nvPr/>
        </p:nvSpPr>
        <p:spPr>
          <a:xfrm>
            <a:off x="685800" y="4745736"/>
            <a:ext cx="10820095" cy="1143000"/>
          </a:xfrm>
          <a:prstGeom prst="roundRect">
            <a:avLst>
              <a:gd name="adj" fmla="val 6000"/>
            </a:avLst>
          </a:prstGeom>
          <a:solidFill>
            <a:srgbClr val="E7E4D8"/>
          </a:solidFill>
          <a:ln>
            <a:noFill/>
          </a:ln>
          <a:effectLst/>
        </p:spPr>
        <p:txBody>
          <a:bodyPr rtlCol="0" anchor="ctr"/>
          <a:lstStyle/>
          <a:p>
            <a:pPr algn="ctr"/>
          </a:p>
        </p:txBody>
      </p:sp>
      <p:sp>
        <p:nvSpPr>
          <p:cNvPr id="12" name="Rectangle 11"/>
          <p:cNvSpPr/>
          <p:nvPr/>
        </p:nvSpPr>
        <p:spPr>
          <a:xfrm>
            <a:off x="685800" y="4745736"/>
            <a:ext cx="54864" cy="1143000"/>
          </a:xfrm>
          <a:prstGeom prst="rect">
            <a:avLst/>
          </a:prstGeom>
          <a:solidFill>
            <a:srgbClr val="7C1F42"/>
          </a:solidFill>
          <a:ln>
            <a:noFill/>
          </a:ln>
          <a:effectLst/>
        </p:spPr>
        <p:txBody>
          <a:bodyPr rtlCol="0" anchor="ctr"/>
          <a:lstStyle/>
          <a:p>
            <a:pPr algn="ctr"/>
          </a:p>
        </p:txBody>
      </p:sp>
      <p:sp>
        <p:nvSpPr>
          <p:cNvPr id="13" name="TextBox 12"/>
          <p:cNvSpPr txBox="1"/>
          <p:nvPr/>
        </p:nvSpPr>
        <p:spPr>
          <a:xfrm>
            <a:off x="978408" y="4873752"/>
            <a:ext cx="10326319" cy="923544"/>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FASHION_ACCESSORIES — CHỢ GIÁ RẺ NHẤT QUÁN</a:t>
            </a:r>
          </a:p>
          <a:p>
            <a:pPr>
              <a:lnSpc>
                <a:spcPct val="118000"/>
              </a:lnSpc>
            </a:pPr>
            <a:r>
              <a:rPr sz="1350" b="0" i="0">
                <a:solidFill>
                  <a:srgbClr val="55565D"/>
                </a:solidFill>
                <a:latin typeface="Calibri"/>
              </a:rPr>
              <a:t>Bán nhiều nhất nhưng giá thấp nhất, discount thấp nhất, tỷ lệ có brand thấp nhất (19.6%), tỷ lệ có video cũng thấp nhất (8.6%) — nên tối ưu vận hành (giá, tốc độ đăng bán) thay vì đầu tư nội dung/thương hiệu.</a:t>
            </a:r>
          </a:p>
        </p:txBody>
      </p:sp>
      <p:cxnSp>
        <p:nvCxnSpPr>
          <p:cNvPr id="14" name="Connector 13"/>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Tổng hợp phát hiện</a:t>
            </a:r>
          </a:p>
        </p:txBody>
      </p:sp>
      <p:sp>
        <p:nvSpPr>
          <p:cNvPr id="16" name="TextBox 15"/>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4.2 · ĐỀ XUẤT CHIẾN LƯỢC</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200" b="1" i="0">
                <a:solidFill>
                  <a:srgbClr val="171A1F"/>
                </a:solidFill>
                <a:latin typeface="Georgia"/>
              </a:rPr>
              <a:t>Giày (Nam &amp; Nữ)</a:t>
            </a:r>
          </a:p>
        </p:txBody>
      </p:sp>
      <p:sp>
        <p:nvSpPr>
          <p:cNvPr id="5" name="Rounded Rectangle 4"/>
          <p:cNvSpPr/>
          <p:nvPr/>
        </p:nvSpPr>
        <p:spPr>
          <a:xfrm>
            <a:off x="685800" y="1828800"/>
            <a:ext cx="10820095" cy="1417320"/>
          </a:xfrm>
          <a:prstGeom prst="roundRect">
            <a:avLst>
              <a:gd name="adj" fmla="val 6000"/>
            </a:avLst>
          </a:prstGeom>
          <a:solidFill>
            <a:srgbClr val="E7E4D8"/>
          </a:solidFill>
          <a:ln>
            <a:noFill/>
          </a:ln>
          <a:effectLst/>
        </p:spPr>
        <p:txBody>
          <a:bodyPr rtlCol="0" anchor="ctr"/>
          <a:lstStyle/>
          <a:p>
            <a:pPr algn="ctr"/>
          </a:p>
        </p:txBody>
      </p:sp>
      <p:sp>
        <p:nvSpPr>
          <p:cNvPr id="6" name="Rectangle 5"/>
          <p:cNvSpPr/>
          <p:nvPr/>
        </p:nvSpPr>
        <p:spPr>
          <a:xfrm>
            <a:off x="685800" y="1828800"/>
            <a:ext cx="54864" cy="1417320"/>
          </a:xfrm>
          <a:prstGeom prst="rect">
            <a:avLst/>
          </a:prstGeom>
          <a:solidFill>
            <a:srgbClr val="7C1F42"/>
          </a:solidFill>
          <a:ln>
            <a:noFill/>
          </a:ln>
          <a:effectLst/>
        </p:spPr>
        <p:txBody>
          <a:bodyPr rtlCol="0" anchor="ctr"/>
          <a:lstStyle/>
          <a:p>
            <a:pPr algn="ctr"/>
          </a:p>
        </p:txBody>
      </p:sp>
      <p:sp>
        <p:nvSpPr>
          <p:cNvPr id="7" name="TextBox 6"/>
          <p:cNvSpPr txBox="1"/>
          <p:nvPr/>
        </p:nvSpPr>
        <p:spPr>
          <a:xfrm>
            <a:off x="978408" y="1956816"/>
            <a:ext cx="10326319" cy="1197864"/>
          </a:xfrm>
          <a:prstGeom prst="rect">
            <a:avLst/>
          </a:prstGeom>
          <a:noFill/>
        </p:spPr>
        <p:txBody>
          <a:bodyPr wrap="square" anchor="t" lIns="0" rIns="0" tIns="0" bIns="0">
            <a:spAutoFit/>
          </a:bodyPr>
          <a:lstStyle/>
          <a:p>
            <a:pPr algn="l">
              <a:spcAft>
                <a:spcPts val="400"/>
              </a:spcAft>
            </a:pPr>
            <a:r>
              <a:rPr sz="1400" b="1" i="0">
                <a:solidFill>
                  <a:srgbClr val="7C1F42"/>
                </a:solidFill>
                <a:latin typeface="Calibri"/>
              </a:rPr>
              <a:t>YẾU TỐ QUAN TRỌNG NHẤT THỰC ĐO ĐƯỢC</a:t>
            </a:r>
          </a:p>
          <a:p>
            <a:pPr>
              <a:lnSpc>
                <a:spcPct val="118000"/>
              </a:lnSpc>
            </a:pPr>
            <a:r>
              <a:rPr sz="1600" b="0" i="0">
                <a:solidFill>
                  <a:srgbClr val="55565D"/>
                </a:solidFill>
                <a:latin typeface="Calibri"/>
              </a:rPr>
              <a:t>Không phải rating_average (corr chỉ 0.01–0.02, ngược với giả định phổ biến) — mà là tần suất đăng bán (date_created) và giá cạnh tranh (price). Brand cũng là đòn bẩy mạnh ở men_shoes (+285%).</a:t>
            </a:r>
          </a:p>
        </p:txBody>
      </p:sp>
      <p:sp>
        <p:nvSpPr>
          <p:cNvPr id="8" name="TextBox 7"/>
          <p:cNvSpPr txBox="1"/>
          <p:nvPr/>
        </p:nvSpPr>
        <p:spPr>
          <a:xfrm>
            <a:off x="685800" y="3520440"/>
            <a:ext cx="10820095" cy="2651760"/>
          </a:xfrm>
          <a:prstGeom prst="rect">
            <a:avLst/>
          </a:prstGeom>
          <a:noFill/>
        </p:spPr>
        <p:txBody>
          <a:bodyPr wrap="square" anchor="t" lIns="0" rIns="0" tIns="0" bIns="0">
            <a:spAutoFit/>
          </a:bodyPr>
          <a:lstStyle/>
          <a:p>
            <a:pPr>
              <a:lnSpc>
                <a:spcPct val="122000"/>
              </a:lnSpc>
              <a:spcAft>
                <a:spcPts val="1600"/>
              </a:spcAft>
            </a:pPr>
            <a:r>
              <a:rPr sz="1700" b="1" i="0">
                <a:solidFill>
                  <a:srgbClr val="7C1F42"/>
                </a:solidFill>
                <a:latin typeface="Calibri"/>
              </a:rPr>
              <a:t>— </a:t>
            </a:r>
            <a:r>
              <a:rPr sz="1700" b="1" i="0">
                <a:solidFill>
                  <a:srgbClr val="171A1F"/>
                </a:solidFill>
                <a:latin typeface="Calibri"/>
              </a:rPr>
              <a:t>Ngừng tư vấn “cải thiện rating”</a:t>
            </a:r>
            <a:r>
              <a:rPr sz="1700" b="0" i="0">
                <a:solidFill>
                  <a:srgbClr val="55565D"/>
                </a:solidFill>
                <a:latin typeface="Calibri"/>
              </a:rPr>
              <a:t> — dữ liệu cho thấy gần như không tác động đến doanh số ở ngành giày.</a:t>
            </a:r>
          </a:p>
          <a:p>
            <a:pPr>
              <a:lnSpc>
                <a:spcPct val="122000"/>
              </a:lnSpc>
              <a:spcAft>
                <a:spcPts val="1600"/>
              </a:spcAft>
            </a:pPr>
            <a:r>
              <a:rPr sz="1700" b="1" i="0">
                <a:solidFill>
                  <a:srgbClr val="7C1F42"/>
                </a:solidFill>
                <a:latin typeface="Calibri"/>
              </a:rPr>
              <a:t>— </a:t>
            </a:r>
            <a:r>
              <a:rPr sz="1700" b="1" i="0">
                <a:solidFill>
                  <a:srgbClr val="171A1F"/>
                </a:solidFill>
                <a:latin typeface="Calibri"/>
              </a:rPr>
              <a:t>Khuyến khích đăng sản phẩm mới đều đặn</a:t>
            </a:r>
            <a:r>
              <a:rPr sz="1700" b="0" i="0">
                <a:solidFill>
                  <a:srgbClr val="55565D"/>
                </a:solidFill>
                <a:latin typeface="Calibri"/>
              </a:rPr>
              <a:t> thay vì để listing cũ đứng yên.</a:t>
            </a:r>
          </a:p>
          <a:p>
            <a:pPr>
              <a:lnSpc>
                <a:spcPct val="122000"/>
              </a:lnSpc>
              <a:spcAft>
                <a:spcPts val="1600"/>
              </a:spcAft>
            </a:pPr>
            <a:r>
              <a:rPr sz="1700" b="1" i="0">
                <a:solidFill>
                  <a:srgbClr val="7C1F42"/>
                </a:solidFill>
                <a:latin typeface="Calibri"/>
              </a:rPr>
              <a:t>— </a:t>
            </a:r>
            <a:r>
              <a:rPr sz="1700" b="1" i="0">
                <a:solidFill>
                  <a:srgbClr val="171A1F"/>
                </a:solidFill>
                <a:latin typeface="Calibri"/>
              </a:rPr>
              <a:t>Cạnh tranh giá</a:t>
            </a:r>
            <a:r>
              <a:rPr sz="1700" b="0" i="0">
                <a:solidFill>
                  <a:srgbClr val="55565D"/>
                </a:solidFill>
                <a:latin typeface="Calibri"/>
              </a:rPr>
              <a:t> có tác động rõ hơn rating trong việc kéo doanh số.</a:t>
            </a:r>
          </a:p>
          <a:p>
            <a:pPr>
              <a:lnSpc>
                <a:spcPct val="122000"/>
              </a:lnSpc>
              <a:spcAft>
                <a:spcPts val="1600"/>
              </a:spcAft>
            </a:pPr>
            <a:r>
              <a:rPr sz="1700" b="1" i="0">
                <a:solidFill>
                  <a:srgbClr val="7C1F42"/>
                </a:solidFill>
                <a:latin typeface="Calibri"/>
              </a:rPr>
              <a:t>— </a:t>
            </a:r>
            <a:r>
              <a:rPr sz="1700" b="1" i="0">
                <a:solidFill>
                  <a:srgbClr val="171A1F"/>
                </a:solidFill>
                <a:latin typeface="Calibri"/>
              </a:rPr>
              <a:t>Cân nhắc hợp tác thương hiệu</a:t>
            </a:r>
            <a:r>
              <a:rPr sz="1700" b="0" i="0">
                <a:solidFill>
                  <a:srgbClr val="55565D"/>
                </a:solidFill>
                <a:latin typeface="Calibri"/>
              </a:rPr>
              <a:t>, đặc biệt với giày nam.</a:t>
            </a:r>
          </a:p>
        </p:txBody>
      </p:sp>
      <p:cxnSp>
        <p:nvCxnSpPr>
          <p:cNvPr id="9" name="Connector 8"/>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Đề xuất theo danh mục</a:t>
            </a:r>
          </a:p>
        </p:txBody>
      </p:sp>
      <p:sp>
        <p:nvSpPr>
          <p:cNvPr id="11" name="TextBox 10"/>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4.2 · ĐỀ XUẤT CHIẾN LƯỢC</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200" b="1" i="0">
                <a:solidFill>
                  <a:srgbClr val="171A1F"/>
                </a:solidFill>
                <a:latin typeface="Georgia"/>
              </a:rPr>
              <a:t>Túi xách (Nam &amp; Nữ)</a:t>
            </a:r>
          </a:p>
        </p:txBody>
      </p:sp>
      <p:sp>
        <p:nvSpPr>
          <p:cNvPr id="5" name="TextBox 4"/>
          <p:cNvSpPr txBox="1"/>
          <p:nvPr/>
        </p:nvSpPr>
        <p:spPr>
          <a:xfrm>
            <a:off x="685800" y="1828800"/>
            <a:ext cx="10820095" cy="2148840"/>
          </a:xfrm>
          <a:prstGeom prst="rect">
            <a:avLst/>
          </a:prstGeom>
          <a:noFill/>
        </p:spPr>
        <p:txBody>
          <a:bodyPr wrap="square" anchor="t" lIns="0" rIns="0" tIns="0" bIns="0">
            <a:spAutoFit/>
          </a:bodyPr>
          <a:lstStyle/>
          <a:p>
            <a:pPr>
              <a:lnSpc>
                <a:spcPct val="128000"/>
              </a:lnSpc>
              <a:spcAft>
                <a:spcPts val="1200"/>
              </a:spcAft>
            </a:pPr>
            <a:r>
              <a:rPr sz="1600" b="1" i="0">
                <a:solidFill>
                  <a:srgbClr val="171A1F"/>
                </a:solidFill>
                <a:latin typeface="Calibri"/>
              </a:rPr>
              <a:t>men_bags: </a:t>
            </a:r>
            <a:r>
              <a:rPr sz="1600" b="0" i="0">
                <a:solidFill>
                  <a:srgbClr val="55565D"/>
                </a:solidFill>
                <a:latin typeface="Calibri"/>
              </a:rPr>
              <a:t>chiến lược giá cao + discount sâu — định vị cao cấp vẫn cần khuyến mãi để chốt đơn. Ưu tiên brand mạnh (uplift +668%), </a:t>
            </a:r>
            <a:r>
              <a:rPr sz="1600" b="1" i="0">
                <a:solidFill>
                  <a:srgbClr val="A4362C"/>
                </a:solidFill>
                <a:latin typeface="Calibri"/>
              </a:rPr>
              <a:t>hạn chế đầu tư video</a:t>
            </a:r>
            <a:r>
              <a:rPr sz="1600" b="0" i="0">
                <a:solidFill>
                  <a:srgbClr val="55565D"/>
                </a:solidFill>
                <a:latin typeface="Calibri"/>
              </a:rPr>
              <a:t> (đang phản tác dụng).</a:t>
            </a:r>
          </a:p>
          <a:p>
            <a:pPr>
              <a:lnSpc>
                <a:spcPct val="128000"/>
              </a:lnSpc>
              <a:spcAft>
                <a:spcPts val="1200"/>
              </a:spcAft>
            </a:pPr>
            <a:r>
              <a:rPr sz="1600" b="1" i="0">
                <a:solidFill>
                  <a:srgbClr val="171A1F"/>
                </a:solidFill>
                <a:latin typeface="Calibri"/>
              </a:rPr>
              <a:t>women_bags: </a:t>
            </a:r>
            <a:r>
              <a:rPr sz="1600" b="0" i="0">
                <a:solidFill>
                  <a:srgbClr val="55565D"/>
                </a:solidFill>
                <a:latin typeface="Calibri"/>
              </a:rPr>
              <a:t>đầu tư mạnh video/nội dung — uplift +242%, cao nhất toàn sàn, dư địa tăng trưởng lớn dù thị trường còn nhỏ.</a:t>
            </a:r>
          </a:p>
          <a:p>
            <a:pPr>
              <a:lnSpc>
                <a:spcPct val="128000"/>
              </a:lnSpc>
            </a:pPr>
            <a:r>
              <a:rPr sz="1600" b="1" i="0">
                <a:solidFill>
                  <a:srgbClr val="171A1F"/>
                </a:solidFill>
                <a:latin typeface="Calibri"/>
              </a:rPr>
              <a:t>Cả hai: </a:t>
            </a:r>
            <a:r>
              <a:rPr sz="1600" b="1" i="0">
                <a:solidFill>
                  <a:srgbClr val="7C1F42"/>
                </a:solidFill>
                <a:latin typeface="Calibri"/>
              </a:rPr>
              <a:t>ưu tiên seller có thương hiệu</a:t>
            </a:r>
            <a:r>
              <a:rPr sz="1600" b="0" i="0">
                <a:solidFill>
                  <a:srgbClr val="55565D"/>
                </a:solidFill>
                <a:latin typeface="Calibri"/>
              </a:rPr>
              <a:t>, giảm tỷ trọng OEM — đây là ngành hàng brand tạo khác biệt lớn nhất.</a:t>
            </a:r>
          </a:p>
        </p:txBody>
      </p:sp>
      <p:sp>
        <p:nvSpPr>
          <p:cNvPr id="6" name="TextBox 5"/>
          <p:cNvSpPr txBox="1"/>
          <p:nvPr/>
        </p:nvSpPr>
        <p:spPr>
          <a:xfrm>
            <a:off x="685800" y="4160520"/>
            <a:ext cx="4572000" cy="320040"/>
          </a:xfrm>
          <a:prstGeom prst="rect">
            <a:avLst/>
          </a:prstGeom>
          <a:noFill/>
        </p:spPr>
        <p:txBody>
          <a:bodyPr wrap="square" anchor="t" lIns="0" rIns="0" tIns="0" bIns="0">
            <a:spAutoFit/>
          </a:bodyPr>
          <a:lstStyle/>
          <a:p>
            <a:pPr algn="l">
              <a:lnSpc>
                <a:spcPct val="112000"/>
              </a:lnSpc>
            </a:pPr>
            <a:r>
              <a:rPr sz="1400" b="1" i="0">
                <a:solidFill>
                  <a:srgbClr val="86847C"/>
                </a:solidFill>
                <a:latin typeface="Calibri"/>
              </a:rPr>
              <a:t>So sánh 2 ngành túi xách</a:t>
            </a:r>
          </a:p>
        </p:txBody>
      </p:sp>
      <p:graphicFrame>
        <p:nvGraphicFramePr>
          <p:cNvPr id="7" name="Table 6"/>
          <p:cNvGraphicFramePr>
            <a:graphicFrameLocks noGrp="1"/>
          </p:cNvGraphicFramePr>
          <p:nvPr/>
        </p:nvGraphicFramePr>
        <p:xfrm>
          <a:off x="685800" y="4526280"/>
          <a:ext cx="10820094" cy="1783080"/>
        </p:xfrm>
        <a:graphic>
          <a:graphicData uri="http://schemas.openxmlformats.org/drawingml/2006/table">
            <a:tbl>
              <a:tblPr firstRow="1" bandRow="1">
                <a:tableStyleId>{5C22544A-7EE6-4342-B048-85BDC9FD1C3A}</a:tableStyleId>
              </a:tblPr>
              <a:tblGrid>
                <a:gridCol w="4111636"/>
                <a:gridCol w="3354229"/>
                <a:gridCol w="3354229"/>
              </a:tblGrid>
              <a:tr h="356616">
                <a:tc>
                  <a:txBody>
                    <a:bodyPr/>
                    <a:lstStyle/>
                    <a:p/>
                  </a:txBody>
                  <a:tcPr>
                    <a:solidFill>
                      <a:srgbClr val="F5F3EC"/>
                    </a:solidFill>
                  </a:tcPr>
                </a:tc>
                <a:tc>
                  <a:txBody>
                    <a:bodyPr/>
                    <a:lstStyle/>
                    <a:p>
                      <a:pPr algn="r"/>
                      <a:r>
                        <a:rPr sz="1300" b="1" i="0">
                          <a:solidFill>
                            <a:srgbClr val="86847C"/>
                          </a:solidFill>
                          <a:latin typeface="Calibri"/>
                        </a:rPr>
                        <a:t>men_bags</a:t>
                      </a:r>
                    </a:p>
                  </a:txBody>
                  <a:tcPr>
                    <a:solidFill>
                      <a:srgbClr val="F5F3EC"/>
                    </a:solidFill>
                  </a:tcPr>
                </a:tc>
                <a:tc>
                  <a:txBody>
                    <a:bodyPr/>
                    <a:lstStyle/>
                    <a:p>
                      <a:pPr algn="r"/>
                      <a:r>
                        <a:rPr sz="1300" b="1" i="0">
                          <a:solidFill>
                            <a:srgbClr val="86847C"/>
                          </a:solidFill>
                          <a:latin typeface="Calibri"/>
                        </a:rPr>
                        <a:t>women_bags</a:t>
                      </a:r>
                    </a:p>
                  </a:txBody>
                  <a:tcPr>
                    <a:solidFill>
                      <a:srgbClr val="F5F3EC"/>
                    </a:solidFill>
                  </a:tcPr>
                </a:tc>
              </a:tr>
              <a:tr h="356616">
                <a:tc>
                  <a:txBody>
                    <a:bodyPr/>
                    <a:lstStyle/>
                    <a:p>
                      <a:r>
                        <a:rPr sz="1400" b="0" i="0">
                          <a:solidFill>
                            <a:srgbClr val="55565D"/>
                          </a:solidFill>
                          <a:latin typeface="Calibri"/>
                        </a:rPr>
                        <a:t>Giá TB</a:t>
                      </a:r>
                    </a:p>
                  </a:txBody>
                  <a:tcPr>
                    <a:solidFill>
                      <a:srgbClr val="FFFFFF"/>
                    </a:solidFill>
                  </a:tcPr>
                </a:tc>
                <a:tc>
                  <a:txBody>
                    <a:bodyPr/>
                    <a:lstStyle/>
                    <a:p>
                      <a:pPr algn="r"/>
                      <a:r>
                        <a:rPr sz="1400" b="1" i="0">
                          <a:solidFill>
                            <a:srgbClr val="171A1F"/>
                          </a:solidFill>
                          <a:latin typeface="Calibri"/>
                        </a:rPr>
                        <a:t>582k</a:t>
                      </a:r>
                    </a:p>
                  </a:txBody>
                  <a:tcPr>
                    <a:solidFill>
                      <a:srgbClr val="FFFFFF"/>
                    </a:solidFill>
                  </a:tcPr>
                </a:tc>
                <a:tc>
                  <a:txBody>
                    <a:bodyPr/>
                    <a:lstStyle/>
                    <a:p>
                      <a:pPr algn="r"/>
                      <a:r>
                        <a:rPr sz="1400" b="1" i="0">
                          <a:solidFill>
                            <a:srgbClr val="171A1F"/>
                          </a:solidFill>
                          <a:latin typeface="Calibri"/>
                        </a:rPr>
                        <a:t>248k</a:t>
                      </a:r>
                    </a:p>
                  </a:txBody>
                  <a:tcPr>
                    <a:solidFill>
                      <a:srgbClr val="FFFFFF"/>
                    </a:solidFill>
                  </a:tcPr>
                </a:tc>
              </a:tr>
              <a:tr h="356616">
                <a:tc>
                  <a:txBody>
                    <a:bodyPr/>
                    <a:lstStyle/>
                    <a:p>
                      <a:r>
                        <a:rPr sz="1400" b="0" i="0">
                          <a:solidFill>
                            <a:srgbClr val="55565D"/>
                          </a:solidFill>
                          <a:latin typeface="Calibri"/>
                        </a:rPr>
                        <a:t>Brand uplift</a:t>
                      </a:r>
                    </a:p>
                  </a:txBody>
                  <a:tcPr>
                    <a:solidFill>
                      <a:srgbClr val="F1EFE6"/>
                    </a:solidFill>
                  </a:tcPr>
                </a:tc>
                <a:tc>
                  <a:txBody>
                    <a:bodyPr/>
                    <a:lstStyle/>
                    <a:p>
                      <a:pPr algn="r"/>
                      <a:r>
                        <a:rPr sz="1400" b="1" i="0">
                          <a:solidFill>
                            <a:srgbClr val="2F6B3A"/>
                          </a:solidFill>
                          <a:latin typeface="Calibri"/>
                        </a:rPr>
                        <a:t>+668%</a:t>
                      </a:r>
                    </a:p>
                  </a:txBody>
                  <a:tcPr>
                    <a:solidFill>
                      <a:srgbClr val="F1EFE6"/>
                    </a:solidFill>
                  </a:tcPr>
                </a:tc>
                <a:tc>
                  <a:txBody>
                    <a:bodyPr/>
                    <a:lstStyle/>
                    <a:p>
                      <a:pPr algn="r"/>
                      <a:r>
                        <a:rPr sz="1400" b="1" i="0">
                          <a:solidFill>
                            <a:srgbClr val="2F6B3A"/>
                          </a:solidFill>
                          <a:latin typeface="Calibri"/>
                        </a:rPr>
                        <a:t>+478%</a:t>
                      </a:r>
                    </a:p>
                  </a:txBody>
                  <a:tcPr>
                    <a:solidFill>
                      <a:srgbClr val="F1EFE6"/>
                    </a:solidFill>
                  </a:tcPr>
                </a:tc>
              </a:tr>
              <a:tr h="356616">
                <a:tc>
                  <a:txBody>
                    <a:bodyPr/>
                    <a:lstStyle/>
                    <a:p>
                      <a:r>
                        <a:rPr sz="1400" b="0" i="0">
                          <a:solidFill>
                            <a:srgbClr val="55565D"/>
                          </a:solidFill>
                          <a:latin typeface="Calibri"/>
                        </a:rPr>
                        <a:t>Video uplift</a:t>
                      </a:r>
                    </a:p>
                  </a:txBody>
                  <a:tcPr>
                    <a:solidFill>
                      <a:srgbClr val="FFFFFF"/>
                    </a:solidFill>
                  </a:tcPr>
                </a:tc>
                <a:tc>
                  <a:txBody>
                    <a:bodyPr/>
                    <a:lstStyle/>
                    <a:p>
                      <a:pPr algn="r"/>
                      <a:r>
                        <a:rPr sz="1400" b="1" i="0">
                          <a:solidFill>
                            <a:srgbClr val="A4362C"/>
                          </a:solidFill>
                          <a:latin typeface="Calibri"/>
                        </a:rPr>
                        <a:t>−16.2%</a:t>
                      </a:r>
                    </a:p>
                  </a:txBody>
                  <a:tcPr>
                    <a:solidFill>
                      <a:srgbClr val="FFFFFF"/>
                    </a:solidFill>
                  </a:tcPr>
                </a:tc>
                <a:tc>
                  <a:txBody>
                    <a:bodyPr/>
                    <a:lstStyle/>
                    <a:p>
                      <a:pPr algn="r"/>
                      <a:r>
                        <a:rPr sz="1400" b="1" i="0">
                          <a:solidFill>
                            <a:srgbClr val="2F6B3A"/>
                          </a:solidFill>
                          <a:latin typeface="Calibri"/>
                        </a:rPr>
                        <a:t>+241.6%</a:t>
                      </a:r>
                    </a:p>
                  </a:txBody>
                  <a:tcPr>
                    <a:solidFill>
                      <a:srgbClr val="FFFFFF"/>
                    </a:solidFill>
                  </a:tcPr>
                </a:tc>
              </a:tr>
              <a:tr h="356616">
                <a:tc>
                  <a:txBody>
                    <a:bodyPr/>
                    <a:lstStyle/>
                    <a:p>
                      <a:r>
                        <a:rPr sz="1400" b="0" i="0">
                          <a:solidFill>
                            <a:srgbClr val="55565D"/>
                          </a:solidFill>
                          <a:latin typeface="Calibri"/>
                        </a:rPr>
                        <a:t>Tỷ lệ ế</a:t>
                      </a:r>
                    </a:p>
                  </a:txBody>
                  <a:tcPr>
                    <a:solidFill>
                      <a:srgbClr val="F1EFE6"/>
                    </a:solidFill>
                  </a:tcPr>
                </a:tc>
                <a:tc>
                  <a:txBody>
                    <a:bodyPr/>
                    <a:lstStyle/>
                    <a:p>
                      <a:pPr algn="r"/>
                      <a:r>
                        <a:rPr sz="1400" b="1" i="0">
                          <a:solidFill>
                            <a:srgbClr val="171A1F"/>
                          </a:solidFill>
                          <a:latin typeface="Calibri"/>
                        </a:rPr>
                        <a:t>58.7%</a:t>
                      </a:r>
                    </a:p>
                  </a:txBody>
                  <a:tcPr>
                    <a:solidFill>
                      <a:srgbClr val="F1EFE6"/>
                    </a:solidFill>
                  </a:tcPr>
                </a:tc>
                <a:tc>
                  <a:txBody>
                    <a:bodyPr/>
                    <a:lstStyle/>
                    <a:p>
                      <a:pPr algn="r"/>
                      <a:r>
                        <a:rPr sz="1400" b="1" i="0">
                          <a:solidFill>
                            <a:srgbClr val="171A1F"/>
                          </a:solidFill>
                          <a:latin typeface="Calibri"/>
                        </a:rPr>
                        <a:t>61.4%</a:t>
                      </a:r>
                    </a:p>
                  </a:txBody>
                  <a:tcPr>
                    <a:solidFill>
                      <a:srgbClr val="F1EFE6"/>
                    </a:solidFill>
                  </a:tcPr>
                </a:tc>
              </a:tr>
            </a:tbl>
          </a:graphicData>
        </a:graphic>
      </p:graphicFrame>
      <p:cxnSp>
        <p:nvCxnSpPr>
          <p:cNvPr id="8" name="Connector 7"/>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Đề xuất theo danh mục</a:t>
            </a:r>
          </a:p>
        </p:txBody>
      </p:sp>
      <p:sp>
        <p:nvSpPr>
          <p:cNvPr id="10" name="TextBox 9"/>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PHẦN 4.2 · ĐỀ XUẤT CHIẾN LƯỢC</a:t>
            </a:r>
          </a:p>
        </p:txBody>
      </p:sp>
      <p:sp>
        <p:nvSpPr>
          <p:cNvPr id="4" name="TextBox 3"/>
          <p:cNvSpPr txBox="1"/>
          <p:nvPr/>
        </p:nvSpPr>
        <p:spPr>
          <a:xfrm>
            <a:off x="685800" y="804672"/>
            <a:ext cx="10820095" cy="1188720"/>
          </a:xfrm>
          <a:prstGeom prst="rect">
            <a:avLst/>
          </a:prstGeom>
          <a:noFill/>
        </p:spPr>
        <p:txBody>
          <a:bodyPr wrap="square" anchor="t" lIns="0" rIns="0" tIns="0" bIns="0">
            <a:spAutoFit/>
          </a:bodyPr>
          <a:lstStyle/>
          <a:p>
            <a:pPr algn="l">
              <a:lnSpc>
                <a:spcPct val="105000"/>
              </a:lnSpc>
            </a:pPr>
            <a:r>
              <a:rPr sz="3200" b="1" i="0">
                <a:solidFill>
                  <a:srgbClr val="171A1F"/>
                </a:solidFill>
                <a:latin typeface="Georgia"/>
              </a:rPr>
              <a:t>Chiến lược chung toàn sàn</a:t>
            </a:r>
          </a:p>
        </p:txBody>
      </p:sp>
      <p:sp>
        <p:nvSpPr>
          <p:cNvPr id="5" name="Rounded Rectangle 4"/>
          <p:cNvSpPr/>
          <p:nvPr/>
        </p:nvSpPr>
        <p:spPr>
          <a:xfrm>
            <a:off x="685800" y="1783080"/>
            <a:ext cx="10820095" cy="914400"/>
          </a:xfrm>
          <a:prstGeom prst="roundRect">
            <a:avLst>
              <a:gd name="adj" fmla="val 6000"/>
            </a:avLst>
          </a:prstGeom>
          <a:solidFill>
            <a:srgbClr val="E7E4D8"/>
          </a:solidFill>
          <a:ln>
            <a:noFill/>
          </a:ln>
          <a:effectLst/>
        </p:spPr>
        <p:txBody>
          <a:bodyPr rtlCol="0" anchor="ctr"/>
          <a:lstStyle/>
          <a:p>
            <a:pPr algn="ctr"/>
          </a:p>
        </p:txBody>
      </p:sp>
      <p:sp>
        <p:nvSpPr>
          <p:cNvPr id="6" name="TextBox 5"/>
          <p:cNvSpPr txBox="1"/>
          <p:nvPr/>
        </p:nvSpPr>
        <p:spPr>
          <a:xfrm>
            <a:off x="886968" y="1911096"/>
            <a:ext cx="10417759" cy="694944"/>
          </a:xfrm>
          <a:prstGeom prst="rect">
            <a:avLst/>
          </a:prstGeom>
          <a:noFill/>
        </p:spPr>
        <p:txBody>
          <a:bodyPr wrap="square" anchor="t" lIns="0" rIns="0" tIns="0" bIns="0">
            <a:spAutoFit/>
          </a:bodyPr>
          <a:lstStyle/>
          <a:p>
            <a:pPr algn="l">
              <a:spcAft>
                <a:spcPts val="400"/>
              </a:spcAft>
            </a:pPr>
            <a:r>
              <a:rPr sz="1450" b="1" i="0">
                <a:solidFill>
                  <a:srgbClr val="7C1F42"/>
                </a:solidFill>
                <a:latin typeface="Calibri"/>
              </a:rPr>
              <a:t>1. ĐĂNG BÁN SỚM &amp; ĐỀU</a:t>
            </a:r>
          </a:p>
          <a:p>
            <a:pPr>
              <a:lnSpc>
                <a:spcPct val="118000"/>
              </a:lnSpc>
            </a:pPr>
            <a:r>
              <a:rPr sz="1500" b="0" i="0">
                <a:solidFill>
                  <a:srgbClr val="55565D"/>
                </a:solidFill>
                <a:latin typeface="Calibri"/>
              </a:rPr>
              <a:t>date_created là feature quan trọng thứ 2 ở cả 2 model — duy trì listing hoạt động liên tục quan trọng hơn hầu hết yếu tố khác.</a:t>
            </a:r>
          </a:p>
        </p:txBody>
      </p:sp>
      <p:sp>
        <p:nvSpPr>
          <p:cNvPr id="7" name="Rounded Rectangle 6"/>
          <p:cNvSpPr/>
          <p:nvPr/>
        </p:nvSpPr>
        <p:spPr>
          <a:xfrm>
            <a:off x="685800" y="2843784"/>
            <a:ext cx="10820095" cy="914400"/>
          </a:xfrm>
          <a:prstGeom prst="roundRect">
            <a:avLst>
              <a:gd name="adj" fmla="val 6000"/>
            </a:avLst>
          </a:prstGeom>
          <a:solidFill>
            <a:srgbClr val="E7E4D8"/>
          </a:solidFill>
          <a:ln>
            <a:noFill/>
          </a:ln>
          <a:effectLst/>
        </p:spPr>
        <p:txBody>
          <a:bodyPr rtlCol="0" anchor="ctr"/>
          <a:lstStyle/>
          <a:p>
            <a:pPr algn="ctr"/>
          </a:p>
        </p:txBody>
      </p:sp>
      <p:sp>
        <p:nvSpPr>
          <p:cNvPr id="8" name="TextBox 7"/>
          <p:cNvSpPr txBox="1"/>
          <p:nvPr/>
        </p:nvSpPr>
        <p:spPr>
          <a:xfrm>
            <a:off x="886968" y="2971800"/>
            <a:ext cx="10417759" cy="694944"/>
          </a:xfrm>
          <a:prstGeom prst="rect">
            <a:avLst/>
          </a:prstGeom>
          <a:noFill/>
        </p:spPr>
        <p:txBody>
          <a:bodyPr wrap="square" anchor="t" lIns="0" rIns="0" tIns="0" bIns="0">
            <a:spAutoFit/>
          </a:bodyPr>
          <a:lstStyle/>
          <a:p>
            <a:pPr algn="l">
              <a:spcAft>
                <a:spcPts val="400"/>
              </a:spcAft>
            </a:pPr>
            <a:r>
              <a:rPr sz="1450" b="1" i="0">
                <a:solidFill>
                  <a:srgbClr val="7C1F42"/>
                </a:solidFill>
                <a:latin typeface="Calibri"/>
              </a:rPr>
              <a:t>2. GIÁ THEO PHÂN KHÚC</a:t>
            </a:r>
          </a:p>
          <a:p>
            <a:pPr>
              <a:lnSpc>
                <a:spcPct val="118000"/>
              </a:lnSpc>
            </a:pPr>
            <a:r>
              <a:rPr sz="1500" b="0" i="0">
                <a:solidFill>
                  <a:srgbClr val="55565D"/>
                </a:solidFill>
                <a:latin typeface="Calibri"/>
              </a:rPr>
              <a:t>Không định giá/giảm giá đại trà — men_bags cần discount sâu, fashion_accessories cần giữ giá thấp ổn định.</a:t>
            </a:r>
          </a:p>
        </p:txBody>
      </p:sp>
      <p:sp>
        <p:nvSpPr>
          <p:cNvPr id="9" name="Rounded Rectangle 8"/>
          <p:cNvSpPr/>
          <p:nvPr/>
        </p:nvSpPr>
        <p:spPr>
          <a:xfrm>
            <a:off x="685800" y="3904487"/>
            <a:ext cx="10820095" cy="914400"/>
          </a:xfrm>
          <a:prstGeom prst="roundRect">
            <a:avLst>
              <a:gd name="adj" fmla="val 6000"/>
            </a:avLst>
          </a:prstGeom>
          <a:solidFill>
            <a:srgbClr val="E7E4D8"/>
          </a:solidFill>
          <a:ln>
            <a:noFill/>
          </a:ln>
          <a:effectLst/>
        </p:spPr>
        <p:txBody>
          <a:bodyPr rtlCol="0" anchor="ctr"/>
          <a:lstStyle/>
          <a:p>
            <a:pPr algn="ctr"/>
          </a:p>
        </p:txBody>
      </p:sp>
      <p:sp>
        <p:nvSpPr>
          <p:cNvPr id="10" name="TextBox 9"/>
          <p:cNvSpPr txBox="1"/>
          <p:nvPr/>
        </p:nvSpPr>
        <p:spPr>
          <a:xfrm>
            <a:off x="886968" y="4032503"/>
            <a:ext cx="10417759" cy="694944"/>
          </a:xfrm>
          <a:prstGeom prst="rect">
            <a:avLst/>
          </a:prstGeom>
          <a:noFill/>
        </p:spPr>
        <p:txBody>
          <a:bodyPr wrap="square" anchor="t" lIns="0" rIns="0" tIns="0" bIns="0">
            <a:spAutoFit/>
          </a:bodyPr>
          <a:lstStyle/>
          <a:p>
            <a:pPr algn="l">
              <a:spcAft>
                <a:spcPts val="400"/>
              </a:spcAft>
            </a:pPr>
            <a:r>
              <a:rPr sz="1450" b="1" i="0">
                <a:solidFill>
                  <a:srgbClr val="7C1F42"/>
                </a:solidFill>
                <a:latin typeface="Calibri"/>
              </a:rPr>
              <a:t>3. VIDEO CÓ CHỌN LỌC</a:t>
            </a:r>
          </a:p>
          <a:p>
            <a:pPr>
              <a:lnSpc>
                <a:spcPct val="118000"/>
              </a:lnSpc>
            </a:pPr>
            <a:r>
              <a:rPr sz="1500" b="0" i="0">
                <a:solidFill>
                  <a:srgbClr val="55565D"/>
                </a:solidFill>
                <a:latin typeface="Calibri"/>
              </a:rPr>
              <a:t>Không áp dụng đồng loạt — hiệu quả cao ở women_bags/fashion_accessories, phản tác dụng ở men_bags.</a:t>
            </a:r>
          </a:p>
        </p:txBody>
      </p:sp>
      <p:sp>
        <p:nvSpPr>
          <p:cNvPr id="11" name="Rounded Rectangle 10"/>
          <p:cNvSpPr/>
          <p:nvPr/>
        </p:nvSpPr>
        <p:spPr>
          <a:xfrm>
            <a:off x="685800" y="5010912"/>
            <a:ext cx="10820095" cy="1371600"/>
          </a:xfrm>
          <a:prstGeom prst="roundRect">
            <a:avLst>
              <a:gd name="adj" fmla="val 6000"/>
            </a:avLst>
          </a:prstGeom>
          <a:solidFill>
            <a:srgbClr val="E7E4D8"/>
          </a:solidFill>
          <a:ln>
            <a:noFill/>
          </a:ln>
          <a:effectLst/>
        </p:spPr>
        <p:txBody>
          <a:bodyPr rtlCol="0" anchor="ctr"/>
          <a:lstStyle/>
          <a:p>
            <a:pPr algn="ctr"/>
          </a:p>
        </p:txBody>
      </p:sp>
      <p:sp>
        <p:nvSpPr>
          <p:cNvPr id="12" name="Rectangle 11"/>
          <p:cNvSpPr/>
          <p:nvPr/>
        </p:nvSpPr>
        <p:spPr>
          <a:xfrm>
            <a:off x="685800" y="5010912"/>
            <a:ext cx="54864" cy="1371600"/>
          </a:xfrm>
          <a:prstGeom prst="rect">
            <a:avLst/>
          </a:prstGeom>
          <a:solidFill>
            <a:srgbClr val="7C1F42"/>
          </a:solidFill>
          <a:ln>
            <a:noFill/>
          </a:ln>
          <a:effectLst/>
        </p:spPr>
        <p:txBody>
          <a:bodyPr rtlCol="0" anchor="ctr"/>
          <a:lstStyle/>
          <a:p>
            <a:pPr algn="ctr"/>
          </a:p>
        </p:txBody>
      </p:sp>
      <p:sp>
        <p:nvSpPr>
          <p:cNvPr id="13" name="TextBox 12"/>
          <p:cNvSpPr txBox="1"/>
          <p:nvPr/>
        </p:nvSpPr>
        <p:spPr>
          <a:xfrm>
            <a:off x="978408" y="5138928"/>
            <a:ext cx="10326319" cy="1152144"/>
          </a:xfrm>
          <a:prstGeom prst="rect">
            <a:avLst/>
          </a:prstGeom>
          <a:noFill/>
        </p:spPr>
        <p:txBody>
          <a:bodyPr wrap="square" anchor="t" lIns="0" rIns="0" tIns="0" bIns="0">
            <a:spAutoFit/>
          </a:bodyPr>
          <a:lstStyle/>
          <a:p>
            <a:pPr algn="l">
              <a:spcAft>
                <a:spcPts val="400"/>
              </a:spcAft>
            </a:pPr>
            <a:r>
              <a:rPr sz="1350" b="1" i="0">
                <a:solidFill>
                  <a:srgbClr val="7C1F42"/>
                </a:solidFill>
                <a:latin typeface="Calibri"/>
              </a:rPr>
              <a:t>KHÔNG NÊN LÀM</a:t>
            </a:r>
          </a:p>
          <a:p>
            <a:pPr>
              <a:lnSpc>
                <a:spcPct val="118000"/>
              </a:lnSpc>
            </a:pPr>
            <a:r>
              <a:rPr sz="1450" b="0" i="0">
                <a:solidFill>
                  <a:srgbClr val="55565D"/>
                </a:solidFill>
                <a:latin typeface="Calibri"/>
              </a:rPr>
              <a:t>Dồn toàn bộ nguồn lực vào việc “chọn đúng danh mục” — sub_category có vai trò thật (top 2–5 ở cả 2 model) nhưng không phải yếu tố quyết định hàng đầu. Cách vận hành sản phẩm ở cấp từng listing mới là đòn bẩy chính.</a:t>
            </a:r>
          </a:p>
        </p:txBody>
      </p:sp>
      <p:cxnSp>
        <p:nvCxnSpPr>
          <p:cNvPr id="14" name="Connector 13"/>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Đề xuất theo danh mục</a:t>
            </a:r>
          </a:p>
        </p:txBody>
      </p:sp>
      <p:sp>
        <p:nvSpPr>
          <p:cNvPr id="16" name="TextBox 15"/>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3EC"/>
          </a:solidFill>
          <a:ln>
            <a:noFill/>
          </a:ln>
          <a:effectLst/>
        </p:spPr>
        <p:txBody>
          <a:bodyPr rtlCol="0" anchor="ctr"/>
          <a:lstStyle/>
          <a:p>
            <a:pPr algn="ctr"/>
          </a:p>
        </p:txBody>
      </p:sp>
      <p:sp>
        <p:nvSpPr>
          <p:cNvPr id="3" name="TextBox 2"/>
          <p:cNvSpPr txBox="1"/>
          <p:nvPr/>
        </p:nvSpPr>
        <p:spPr>
          <a:xfrm>
            <a:off x="685800" y="502920"/>
            <a:ext cx="10820095" cy="274320"/>
          </a:xfrm>
          <a:prstGeom prst="rect">
            <a:avLst/>
          </a:prstGeom>
          <a:noFill/>
        </p:spPr>
        <p:txBody>
          <a:bodyPr wrap="square" anchor="t" lIns="0" rIns="0" tIns="0" bIns="0">
            <a:spAutoFit/>
          </a:bodyPr>
          <a:lstStyle/>
          <a:p>
            <a:pPr algn="l">
              <a:lnSpc>
                <a:spcPct val="112000"/>
              </a:lnSpc>
            </a:pPr>
            <a:r>
              <a:rPr sz="1350" b="1" i="0">
                <a:solidFill>
                  <a:srgbClr val="7C1F42"/>
                </a:solidFill>
                <a:latin typeface="Calibri"/>
              </a:rPr>
              <a:t>KẾT LUẬN</a:t>
            </a:r>
          </a:p>
        </p:txBody>
      </p:sp>
      <p:sp>
        <p:nvSpPr>
          <p:cNvPr id="4" name="TextBox 3"/>
          <p:cNvSpPr txBox="1"/>
          <p:nvPr/>
        </p:nvSpPr>
        <p:spPr>
          <a:xfrm>
            <a:off x="685800" y="868680"/>
            <a:ext cx="10820095" cy="1737360"/>
          </a:xfrm>
          <a:prstGeom prst="rect">
            <a:avLst/>
          </a:prstGeom>
          <a:noFill/>
        </p:spPr>
        <p:txBody>
          <a:bodyPr wrap="square" anchor="t" lIns="0" rIns="0" tIns="0" bIns="0">
            <a:spAutoFit/>
          </a:bodyPr>
          <a:lstStyle/>
          <a:p>
            <a:pPr algn="l">
              <a:lnSpc>
                <a:spcPct val="115000"/>
              </a:lnSpc>
            </a:pPr>
            <a:r>
              <a:rPr sz="2800" b="1" i="0">
                <a:solidFill>
                  <a:srgbClr val="171A1F"/>
                </a:solidFill>
                <a:latin typeface="Georgia"/>
              </a:rPr>
              <a:t>Đúng ngành hàng giúp ích —
nhưng cách vận hành từng sản phẩm mới quyết định</a:t>
            </a:r>
          </a:p>
        </p:txBody>
      </p:sp>
      <p:sp>
        <p:nvSpPr>
          <p:cNvPr id="5" name="TextBox 4"/>
          <p:cNvSpPr txBox="1"/>
          <p:nvPr/>
        </p:nvSpPr>
        <p:spPr>
          <a:xfrm>
            <a:off x="685800" y="2606040"/>
            <a:ext cx="10820095" cy="3291840"/>
          </a:xfrm>
          <a:prstGeom prst="rect">
            <a:avLst/>
          </a:prstGeom>
          <a:noFill/>
        </p:spPr>
        <p:txBody>
          <a:bodyPr wrap="square" anchor="t" lIns="0" rIns="0" tIns="0" bIns="0">
            <a:spAutoFit/>
          </a:bodyPr>
          <a:lstStyle/>
          <a:p>
            <a:pPr>
              <a:lnSpc>
                <a:spcPct val="122000"/>
              </a:lnSpc>
              <a:spcAft>
                <a:spcPts val="2000"/>
              </a:spcAft>
            </a:pPr>
            <a:r>
              <a:rPr sz="1750" b="1" i="0">
                <a:solidFill>
                  <a:srgbClr val="7C1F42"/>
                </a:solidFill>
                <a:latin typeface="Calibri"/>
              </a:rPr>
              <a:t>— </a:t>
            </a:r>
            <a:r>
              <a:rPr sz="1750" b="1" i="0">
                <a:solidFill>
                  <a:srgbClr val="171A1F"/>
                </a:solidFill>
                <a:latin typeface="Calibri"/>
              </a:rPr>
              <a:t>Rating không phải đòn bẩy ở bất kỳ danh mục nào</a:t>
            </a:r>
            <a:r>
              <a:rPr sz="1750" b="0" i="0">
                <a:solidFill>
                  <a:srgbClr val="55565D"/>
                </a:solidFill>
                <a:latin typeface="Calibri"/>
              </a:rPr>
              <a:t> — ngừng đầu tư cải thiện rating để tăng doanh số.</a:t>
            </a:r>
          </a:p>
          <a:p>
            <a:pPr>
              <a:lnSpc>
                <a:spcPct val="122000"/>
              </a:lnSpc>
              <a:spcAft>
                <a:spcPts val="2000"/>
              </a:spcAft>
            </a:pPr>
            <a:r>
              <a:rPr sz="1750" b="1" i="0">
                <a:solidFill>
                  <a:srgbClr val="7C1F42"/>
                </a:solidFill>
                <a:latin typeface="Calibri"/>
              </a:rPr>
              <a:t>— </a:t>
            </a:r>
            <a:r>
              <a:rPr sz="1750" b="1" i="0">
                <a:solidFill>
                  <a:srgbClr val="171A1F"/>
                </a:solidFill>
                <a:latin typeface="Calibri"/>
              </a:rPr>
              <a:t>Video và thương hiệu có tác động rất khác nhau theo danh mục</a:t>
            </a:r>
            <a:r>
              <a:rPr sz="1750" b="0" i="0">
                <a:solidFill>
                  <a:srgbClr val="55565D"/>
                </a:solidFill>
                <a:latin typeface="Calibri"/>
              </a:rPr>
              <a:t> — cần chính sách riêng, không đồng loạt.</a:t>
            </a:r>
          </a:p>
          <a:p>
            <a:pPr>
              <a:lnSpc>
                <a:spcPct val="122000"/>
              </a:lnSpc>
              <a:spcAft>
                <a:spcPts val="2000"/>
              </a:spcAft>
            </a:pPr>
            <a:r>
              <a:rPr sz="1750" b="1" i="0">
                <a:solidFill>
                  <a:srgbClr val="7C1F42"/>
                </a:solidFill>
                <a:latin typeface="Calibri"/>
              </a:rPr>
              <a:t>— </a:t>
            </a:r>
            <a:r>
              <a:rPr sz="1750" b="1" i="0">
                <a:solidFill>
                  <a:srgbClr val="171A1F"/>
                </a:solidFill>
                <a:latin typeface="Calibri"/>
              </a:rPr>
              <a:t>Random Forest/XGBoost dự đoán tốt hơn hẳn SVR</a:t>
            </a:r>
            <a:r>
              <a:rPr sz="1750" b="0" i="0">
                <a:solidFill>
                  <a:srgbClr val="55565D"/>
                </a:solidFill>
                <a:latin typeface="Calibri"/>
              </a:rPr>
              <a:t> — phù hợp với bản chất dữ liệu đếm lệch cực đoan.</a:t>
            </a:r>
          </a:p>
          <a:p>
            <a:pPr>
              <a:lnSpc>
                <a:spcPct val="122000"/>
              </a:lnSpc>
              <a:spcAft>
                <a:spcPts val="2000"/>
              </a:spcAft>
            </a:pPr>
            <a:r>
              <a:rPr sz="1750" b="1" i="0">
                <a:solidFill>
                  <a:srgbClr val="7C1F42"/>
                </a:solidFill>
                <a:latin typeface="Calibri"/>
              </a:rPr>
              <a:t>— </a:t>
            </a:r>
            <a:r>
              <a:rPr sz="1750" b="1" i="0">
                <a:solidFill>
                  <a:srgbClr val="7C1F42"/>
                </a:solidFill>
                <a:latin typeface="Calibri"/>
              </a:rPr>
              <a:t>Bước tiếp theo:</a:t>
            </a:r>
            <a:r>
              <a:rPr sz="1750" b="0" i="0">
                <a:solidFill>
                  <a:srgbClr val="55565D"/>
                </a:solidFill>
                <a:latin typeface="Calibri"/>
              </a:rPr>
              <a:t> thử nghiệm A/B chính sách video theo danh mục ở women_bags trước khi mở rộng toàn sàn.</a:t>
            </a:r>
          </a:p>
        </p:txBody>
      </p:sp>
      <p:cxnSp>
        <p:nvCxnSpPr>
          <p:cNvPr id="6" name="Connector 5"/>
          <p:cNvCxnSpPr/>
          <p:nvPr/>
        </p:nvCxnSpPr>
        <p:spPr>
          <a:xfrm>
            <a:off x="685800" y="6309360"/>
            <a:ext cx="10820095" cy="0"/>
          </a:xfrm>
          <a:prstGeom prst="line">
            <a:avLst/>
          </a:prstGeom>
          <a:ln w="9525">
            <a:solidFill>
              <a:srgbClr val="CFCBB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85800" y="6419088"/>
            <a:ext cx="5486400" cy="274320"/>
          </a:xfrm>
          <a:prstGeom prst="rect">
            <a:avLst/>
          </a:prstGeom>
          <a:noFill/>
        </p:spPr>
        <p:txBody>
          <a:bodyPr wrap="square" anchor="t" lIns="0" rIns="0" tIns="0" bIns="0">
            <a:spAutoFit/>
          </a:bodyPr>
          <a:lstStyle/>
          <a:p>
            <a:pPr algn="l">
              <a:lnSpc>
                <a:spcPct val="112000"/>
              </a:lnSpc>
            </a:pPr>
            <a:r>
              <a:rPr sz="1150" b="0" i="0">
                <a:solidFill>
                  <a:srgbClr val="86847C"/>
                </a:solidFill>
                <a:latin typeface="Calibri"/>
              </a:rPr>
              <a:t>Kết luận</a:t>
            </a:r>
          </a:p>
        </p:txBody>
      </p:sp>
      <p:sp>
        <p:nvSpPr>
          <p:cNvPr id="8" name="TextBox 7"/>
          <p:cNvSpPr txBox="1"/>
          <p:nvPr/>
        </p:nvSpPr>
        <p:spPr>
          <a:xfrm>
            <a:off x="9677095" y="6419088"/>
            <a:ext cx="1828800" cy="274320"/>
          </a:xfrm>
          <a:prstGeom prst="rect">
            <a:avLst/>
          </a:prstGeom>
          <a:noFill/>
        </p:spPr>
        <p:txBody>
          <a:bodyPr wrap="square" anchor="t" lIns="0" rIns="0" tIns="0" bIns="0">
            <a:spAutoFit/>
          </a:bodyPr>
          <a:lstStyle/>
          <a:p>
            <a:pPr algn="r">
              <a:lnSpc>
                <a:spcPct val="112000"/>
              </a:lnSpc>
            </a:pPr>
            <a:r>
              <a:rPr sz="1150" b="0" i="0">
                <a:solidFill>
                  <a:srgbClr val="86847C"/>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